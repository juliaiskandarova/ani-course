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</c:v>
                </c:pt>
              </c:strCache>
            </c:strRef>
          </c:tx>
          <c:spPr>
            <a:solidFill>
              <a:srgbClr val="1F3A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DeepSeek 1</c:v>
                  </c:pt>
                  <c:pt idx="1">
                    <c:v>DeepSeek 2</c:v>
                  </c:pt>
                  <c:pt idx="2">
                    <c:v>GigaChat 1</c:v>
                  </c:pt>
                  <c:pt idx="3">
                    <c:v>GigaChat 2</c:v>
                  </c:pt>
                  <c:pt idx="4">
                    <c:v>Алиса 1</c:v>
                  </c:pt>
                  <c:pt idx="5">
                    <c:v>Алиса 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76.4</c:v>
                </c:pt>
                <c:pt idx="1">
                  <c:v>76.4</c:v>
                </c:pt>
                <c:pt idx="2">
                  <c:v>56.6</c:v>
                </c:pt>
                <c:pt idx="3">
                  <c:v>58</c:v>
                </c:pt>
                <c:pt idx="4">
                  <c:v>56.7</c:v>
                </c:pt>
                <c:pt idx="5">
                  <c:v>57.9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chrF</c:v>
                </c:pt>
              </c:strCache>
            </c:strRef>
          </c:tx>
          <c:spPr>
            <a:solidFill>
              <a:srgbClr val="C257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DeepSeek 1</c:v>
                  </c:pt>
                  <c:pt idx="1">
                    <c:v>DeepSeek 2</c:v>
                  </c:pt>
                  <c:pt idx="2">
                    <c:v>GigaChat 1</c:v>
                  </c:pt>
                  <c:pt idx="3">
                    <c:v>GigaChat 2</c:v>
                  </c:pt>
                  <c:pt idx="4">
                    <c:v>Алиса 1</c:v>
                  </c:pt>
                  <c:pt idx="5">
                    <c:v>Алиса 2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88.6</c:v>
                </c:pt>
                <c:pt idx="1">
                  <c:v>89.3</c:v>
                </c:pt>
                <c:pt idx="2">
                  <c:v>77.4</c:v>
                </c:pt>
                <c:pt idx="3">
                  <c:v>78.9</c:v>
                </c:pt>
                <c:pt idx="4">
                  <c:v>78.2</c:v>
                </c:pt>
                <c:pt idx="5">
                  <c:v>81.6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Доклад делится на две части: теория (Фролов И.) и эксперимент с лабораторной работой (Поляков В.).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отличие: в научном тексте важна не гладкость, а точность термина. Пересказ, допустимый в обычном переводе, здесь меняет смысл.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типовые ловушки. Модель переводит слово самым частым эквивалентом, а в научном тексте нужен эквивалент из конкретной области.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примеры из математики и статистики. Дословный вариант понятен русскоязычному читателю, но англоязычный специалист так не пишет.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Машинный перевод быстрый и ничего не добавляет от себя, но не принимает инструкций. LLM можно объяснить задачу и дать глоссарий, но она может что-то добавить или пересказать.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Глоссарий — список терминов с утверждёнными переводами. Его составляют до перевода и передают модели в каждом запросе.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Промпт строится из четырёх частей. Глоссарий — главная часть для правильной терминологии.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Статью целиком в один запрос часто не отправить. Её делят на разделы, но все запросы получают один и тот же глоссарий.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Последняя строка — не ошибка перевода, а ошибка формата: модель добавляет вступление или пояснения, их приходится вычищать вручную.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BLEU и chrF сравнивают перевод с эталоном по совпадению слов и символов. Косинусное сходство переводит тексты в векторы и сравнивает угол между ними. Ни одна метрика не проверяет конкретный термин — нужна ручная проверка.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А — то, что в журнале переводится всегда. Часть Б — основной текст, где больше терминов. Шесть прогонов, каждый в новом чате.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Промпт 1 — как переводит обычный пользователь. Промпт 2 — с ролью, правилами и глоссарием из 8 терминов. Сравниваем перевод этих 8 терминов без глоссария и с ним, а также проверяем остальные термины текста, которых в глоссарии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Авторский перевод — не идеал. Модели, которые исправили эти ошибки, получают более низкий BLEU, потому что расходятся с эталоном.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части А есть эталон, поэтому считаем BLEU, chrF и косинусное сходство. Для части Б эталона нет — только ручная проверка терминов.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DeepSeek ближе всех к эталону. Глоссарий почти не меняет BLEU и chrF: термины из глоссария составляют малую часть текста.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Косинус по TF-IDF даёт тот же порядок моделей, что и BLEU. Косинус эмбеддингов у всех почти 1: по смыслу все переводы совпадают с эталоном. Опыт справа: исправили 4 термина — метрики почти не изменились.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проверка глоссария: те же 8 терминов в переводах с промптом 1 и промптом 2. Шесть терминов модели и так знают. Глоссарий исправил два: критерий близости и среднеквадратическое приближение. С глоссарием — 8 из 8 у всех моделей.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Глоссарий никогда не охватывает все термины текста. Проверяем, что модели сделали с остальными: это показывает, что нужно было добавить в глоссарий. Три термина не перевела правильно ни одна модель ни с одним промптом.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Помогло: два термина из глоссария исправлены у всех моделей. Навредило: R² с промптом 2 стал переводиться дословно, в названии появилась тавтология. Общее правило «используй общепринятую терминологию» калек не исправило — эти термины надо было внести в глоссарий.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DeepSeek — лучший по всем метрикам и по формату ответа. GigaChat добавлял лишний текст, Алисе нужен был второй запрос.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Лабораторная повторяет эксперимент на своей статье.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Формат отчёта как в лабораторной по теме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Общие выводы по теории и эксперименту.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902" y="1145743"/>
            <a:ext cx="10566806" cy="0"/>
          </a:xfrm>
          <a:prstGeom prst="line">
            <a:avLst/>
          </a:prstGeom>
          <a:noFill/>
          <a:ln w="19050">
            <a:solidFill>
              <a:srgbClr val="1F3A68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metricgate.com/calculator/bleu-machine-translation" TargetMode="External"/><Relationship Id="rId2" Type="http://schemas.openxmlformats.org/officeDocument/2006/relationships/hyperlink" Target="https://metricgate.com/calculator/text-similarity-analysis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Санкт-Петербургский политехнический университет Петра Великого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87452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 научного текста на английский язык с правильной терминологией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38328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 по дисциплине «Автоматизация научных исследований»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4434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Выполнили: Фролов И., Поляков В.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 5040102/60201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Санкт-Петербург,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доклада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12902" y="1463040"/>
            <a:ext cx="510235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32942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1. Теория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32942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Фролов Иван · слайды 3–11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32942" y="26060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научный перевод отличается от обычного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термины переводятся с ошибками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Подходы: машинный перевод и LLM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Глоссарий и промпт для перевода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оценить качество перевода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81014" y="1463040"/>
            <a:ext cx="510235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01054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2. Эксперимент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601054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Поляков Вячеслав · слайды 12–23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01054" y="26060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модели и два промпта на одной статье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Метрики: BLEU, chrF, косинусное сходство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проверка терминов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 глоссарий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Научный перевод: в чём отличие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463040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Обычный перевод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1920240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Передать смысл и интонацию. Допустимы пересказ, синонимы, перестройка фраз.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2902" y="2880360"/>
            <a:ext cx="5102352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41502" y="30175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«Он решил задачу быстро» → He solved the problem quickly / He quickly found the answer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81014" y="1463040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Научный перевод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281014" y="1920240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 передаётся устоявшимся эквивалентом, один термин переводится везде одинаково, числа и формулы не меняются.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81014" y="2880360"/>
            <a:ext cx="5102352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09614" y="30175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«дисперсия случайной величины» → variance of a random variable, а не dispersion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12902" y="4526280"/>
            <a:ext cx="1056680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1502" y="4663440"/>
            <a:ext cx="101096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это нужно: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российских журналах название, аннотация и ключевые слова статьи публикуются и на английском языке. По ним статью находят в международных базах, поэтому ошибка в термине делает статью «невидимой» для поиска.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12902" y="63367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 Р 7.0.7-2021 «Статьи в журналах и сборниках. Издательское оформление»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термины переводятся с ошибками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12902" y="1463040"/>
            <a:ext cx="510235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87222" y="1764792"/>
            <a:ext cx="182880" cy="18288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07262" y="16916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Ложные друзья переводчика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07262" y="2084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похоже на английское, но значит другое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07262" y="248716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актуальная задача → actual problem 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relevant / topical problem 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81014" y="1463040"/>
            <a:ext cx="510235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5334" y="1764792"/>
            <a:ext cx="18288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75374" y="16916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Калька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875374" y="2084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Дословный перевод русской конструкции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75374" y="248716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данной работе → in the given work 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 this paper ✓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2902" y="3703320"/>
            <a:ext cx="510235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87222" y="4005072"/>
            <a:ext cx="182880" cy="182880"/>
          </a:xfrm>
          <a:prstGeom prst="rect">
            <a:avLst/>
          </a:prstGeom>
          <a:solidFill>
            <a:srgbClr val="C2571A"/>
          </a:solidFill>
          <a:ln w="12700">
            <a:solidFill>
              <a:srgbClr val="C257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407262" y="39319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эквивалентов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07262" y="4325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зависит от контекста и формулы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407262" y="472744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среднее квадратичное отклонение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standard deviation или RMS deviation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81014" y="3703320"/>
            <a:ext cx="510235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55334" y="4005072"/>
            <a:ext cx="182880" cy="18288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75374" y="39319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Непоследовательность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875374" y="4325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термин в тексте переведён по-разному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875374" y="472744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аппроксимация → approximation, fitting, smoothing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везде approximation ✓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Термины-ловушки в математике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463040"/>
          <a:ext cx="10566806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456432"/>
                <a:gridCol w="345277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Русский термин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Дословный перевод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Правильно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дисперсия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dispersion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частная производная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derivative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derivative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 наименьших квадратов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 of smallest squares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least squares method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производная по 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derivative by 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derivative with respect to 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краевая задача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 problem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boundary value problem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собственное значение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 value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eigenvalue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раскрыть скобки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the brackets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expand the brackets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12902" y="5349240"/>
            <a:ext cx="10566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Проверять перевод термина удобно по англоязычным учебникам и статьям той же области, а не по общему словарю.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Подходы к автоматическому переводу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463040"/>
          <a:ext cx="10566806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06040"/>
                <a:gridCol w="2606040"/>
                <a:gridCol w="261152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Машинный перевод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(Google, Яндекс, DeepL)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(DeepSeek, GigaChat, GPT)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+ глоссарий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Учитывает контекст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основном предложение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весь текст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весь текст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Научные термины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часто дословно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лучше, но без гарантий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 глоссарию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Можно дать инструкции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Может добавить лишнее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да, реже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нужно для запуска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браузер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чат или API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чат + список терминов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12902" y="5120640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Постредактирование: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любом варианте перевод проверяет человек, который знает предметную область.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Глоссарий: как его составить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12902" y="1463040"/>
            <a:ext cx="2331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95782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95782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Выписать термины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95782" y="2651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названия, аннотации, ключевых слов и формул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199486" y="2560320"/>
            <a:ext cx="301752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556102" y="1463040"/>
            <a:ext cx="2331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38982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738982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эквиваленты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738982" y="2651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англоязычные учебники, Encyclopedia of Mathematics, Multitran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2686" y="2560320"/>
            <a:ext cx="301752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299302" y="1463040"/>
            <a:ext cx="2331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82182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482182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по смыслу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82182" y="2651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сверить с определением или формулой в статье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85886" y="2560320"/>
            <a:ext cx="301752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042502" y="1463040"/>
            <a:ext cx="2331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257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25382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9225382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в промпт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25382" y="2651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требовать строго следовать глоссарию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12902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глоссария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12902" y="4297680"/>
            <a:ext cx="5852160" cy="1280160"/>
          </a:xfrm>
          <a:prstGeom prst="rect">
            <a:avLst/>
          </a:prstGeom>
          <a:solidFill>
            <a:srgbClr val="F7F7F7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95782" y="4462272"/>
            <a:ext cx="5486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дисперсия              — variance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частная производная    — partial derivative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метод наименьших квадратов — least squares method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аппроксимирующая функция — approximating function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030822" y="434340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глоссарий попадают все термины, которые могут перевести по-разному. Термин, которого нет в списке, модель переведёт как сможет.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 для перевода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12902" y="1417320"/>
            <a:ext cx="6309360" cy="4343400"/>
          </a:xfrm>
          <a:prstGeom prst="rect">
            <a:avLst/>
          </a:prstGeom>
          <a:solidFill>
            <a:srgbClr val="F7F7F7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95782" y="1581912"/>
            <a:ext cx="594360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5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Ты переводчик научных статей по математике.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5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Переведи текст на английский для журнала.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Используй общепринятые термины,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 не дословный перевод.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Один термин переводи везде одинаково.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Сохраняй числа и формулы, ничего не добавляй.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Глоссарий: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дисперсия — variance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производная по x — derivative with respect to x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Выведи только перевод.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Текст: """[текст]"""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543800" y="1563624"/>
            <a:ext cx="155448" cy="155448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и задача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18196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переводит и для чего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43800" y="2569464"/>
            <a:ext cx="155448" cy="155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2514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8254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термины, единообразие, числа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43800" y="3575304"/>
            <a:ext cx="155448" cy="155448"/>
          </a:xfrm>
          <a:prstGeom prst="rect">
            <a:avLst/>
          </a:prstGeom>
          <a:solidFill>
            <a:srgbClr val="C2571A"/>
          </a:solidFill>
          <a:ln w="12700">
            <a:solidFill>
              <a:srgbClr val="C257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3520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Глоссарий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38313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утверждённые переводы терминов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543800" y="4581144"/>
            <a:ext cx="155448" cy="155448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4526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ответа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48371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вступлений и пояснений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Длинные тексты: перевод по частям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Разделы статьи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1605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 (отдельные запросы)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902" y="173736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902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98902" y="1965960"/>
            <a:ext cx="960120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251960" y="173736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5196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 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12902" y="2359152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2902" y="23591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98902" y="2587752"/>
            <a:ext cx="960120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251960" y="2359152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51960" y="2359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 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12902" y="2980944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2902" y="29809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098902" y="3209544"/>
            <a:ext cx="960120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251960" y="2980944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51960" y="29809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 3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12902" y="3602736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2902" y="36027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098902" y="3831336"/>
            <a:ext cx="960120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4251960" y="3602736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51960" y="36027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 4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251960" y="429768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2571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51960" y="4297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глоссарий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25196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передаётся в каждый запрос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858000" y="2697480"/>
            <a:ext cx="822960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818120" y="224028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55280" y="2240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текст и проверить единообразие терминов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818120" y="34290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разных запросах модель переводит один термин по-разному.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глоссарий + поиск каждого термина по готовому тексту.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Типичные ошибки при переводе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463040"/>
          <a:ext cx="10566806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743200"/>
                <a:gridCol w="2971800"/>
                <a:gridCol w="261152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Ошибка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Оригинал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Перевод модели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Правильно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Калька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раскрыть скобки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the brackets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expand the brackets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Ложный друг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дисперсия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dispersion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Буквализм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величина достоверности аппроксимации R²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approximation reliability measure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coefficient of determination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Непоследовательность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 термин в двух местах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 approximation … standard approximation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least-squares approximation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Лишний текст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«Вот перевод вашего текста…»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только перевод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оценить качество перевода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работает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Ограничение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доля совпадающих с эталоном цепочек из 1–4 слов, 0–100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синонимы считает ошибкой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совпадение цепочек символов, 0–100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нужен эталон, как и BLEU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Косинусное сходство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тексты → векторы (частоты слов TF-IDF или эмбеддинги), косинус угла между ними, 0–1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видит ошибку в одном термине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Ручная проверка терминов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каждый термин сверяется с глоссарием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долго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8092440" y="1417320"/>
            <a:ext cx="3282696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7532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Косинусное сходство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229600" y="2011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cos(A,B) = A·B / (|A|·|B|)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275320" y="2560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 — векторы двух текстов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тексты совпадают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— ничего общего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75320" y="36118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сравнивает слова, эмбеддинги — смысл.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12902" y="489204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метрика: ручная проверка терминов.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Автоматические метрики показывают близость к эталону, но не правильность термина.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Эксперимент: три модели, два промпта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32588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Статья: </a:t>
            </a:r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Тюнькин А.Б., Пармузина М.С. Аппроксимация с помощью среднеквадратического приближения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166420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Вестник науки, 2024, № 1 (70). Эталон для части А: английский перевод от авторов из журнала.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902" y="219456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062" y="21945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А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название, аннотация, ключевые слова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12902" y="324612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0062" y="32461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Б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≈250 слов основного текста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40480" y="3154680"/>
            <a:ext cx="548640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526280" y="2194560"/>
            <a:ext cx="3017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21945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Алиса AI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промпт 1 и промпт 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80960" y="3154680"/>
            <a:ext cx="548640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366760" y="2194560"/>
            <a:ext cx="300837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57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2194560"/>
            <a:ext cx="29169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А: метрики с эталоном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+ Б: проверка терминов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2902" y="4434840"/>
            <a:ext cx="105668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прогонов: 3 модели × 2 промпта, каждый в новом чате без истории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бесплатные версии с настройками по умолчанию, текст передан файлом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авторский перевод удалён из текста и служит эталоном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Промпты эксперимента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 1 — простой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12902" y="1691640"/>
            <a:ext cx="3566160" cy="1463040"/>
          </a:xfrm>
          <a:prstGeom prst="rect">
            <a:avLst/>
          </a:prstGeom>
          <a:solidFill>
            <a:srgbClr val="F7F7F7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95782" y="1856232"/>
            <a:ext cx="3200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Переведи текст на английский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язык.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Текст: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"""[текст]"""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12902" y="34290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два промпта: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сравнить перевод 8 терминов глоссария без него и с ним. Отдельно проверяем другие термины текста, которых в глоссарии нет: глоссарий никогда не охватывает всё.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325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 2 — роль, правила, глоссарий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54880" y="1691640"/>
            <a:ext cx="6620256" cy="3429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1856232"/>
            <a:ext cx="625449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5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Ты переводчик научных статей по математике.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5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Переведи текст на английский язык для научного журнала.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Используй общепринятую терминологию, не дословный перевод.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Один русский термин переводи везде одинаково.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Термины из глоссария переводи строго по глоссарию.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Сохраняй числа и структуру. Ничего не добавляй.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Выведи только перевод.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Глоссарий: аппроксимация — approximation;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аппроксимирующая функция — approximating function;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сглаживание — smoothing; эмпирическая формула — empirical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formula; среднеквадратическое приближение — least-squares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approximation; метод наименьших квадратов — least squares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method; интерполяционный многочлен — interpolation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5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polynomial; критерий близости — closeness criterion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Текст: """[текст]"""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Эталон тоже ошибается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12902" y="1371600"/>
            <a:ext cx="10566806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41502" y="1481328"/>
            <a:ext cx="101096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Авторский перевод (фрагменты)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APPROXIMATION USING THE </a:t>
            </a:r>
            <a:pPr indent="0" marL="0">
              <a:spcAft>
                <a:spcPts val="400"/>
              </a:spcAft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 APPROXIMATION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Abstract: …the task of approximation often arises – </a:t>
            </a:r>
            <a:pPr indent="0" marL="0">
              <a:spcAft>
                <a:spcPts val="400"/>
              </a:spcAft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compiling</a:t>
            </a:r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function based on individual values…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Keywords: approximation, smoothing, </a:t>
            </a:r>
            <a:pPr indent="0" marL="0">
              <a:spcAft>
                <a:spcPts val="400"/>
              </a:spcAft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approximation</a:t>
            </a:r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empirical formula.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3154680"/>
          <a:ext cx="10566806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97680"/>
                <a:gridCol w="297728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Русский термин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 автора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Правильно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среднеквадратическое приближение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 approximation (название) — нестандартно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approximation (ключевые слова) — ошибка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least-squares approximation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или mean-square approximation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составление функции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compiling a function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constructing a function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12902" y="507492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термин переведён автором по-разному в названии и в ключевых словах. Сравнение с таким эталоном по метрикам нужно дополнять ручной проверкой.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12902" y="58521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проверяли: Burden R., Faires J. Numerical Analysis, гл. 8 «Least Squares Approximation»; Encyclopedia of Mathematics, статья «Mean-square approximation of a function»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сравниваем: метрики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417320"/>
          <a:ext cx="1056680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2514600"/>
                <a:gridCol w="165140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Метрика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показывает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Где считаем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Хорошо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совпадение цепочек слов с эталоном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онлайн-калькулятор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ближе к 100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совпадение цепочек символов с эталоном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онлайн-калькулятор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ближе к 100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Косинус TF-IDF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сходство по словам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онлайн-калькулятор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ближе к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Косинус эмбеддингов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сходство по смыслу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векторы слов (spaCy)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ближе к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Термины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сколько терминов переведено верно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вручную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12902" y="443484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Калькуляторы: </a:t>
            </a:r>
            <a:pPr indent="0" marL="0">
              <a:buNone/>
            </a:pPr>
            <a:r>
              <a:rPr lang="en-US" sz="1400" u="sng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metricgate.com/calculator/bleu-machine-translation</a:t>
            </a:r>
            <a:endParaRPr lang="en-US" sz="14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metricgate.com/calculator/text-similarity-analysis</a:t>
            </a:r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(метрика cosine, тексты разделяются «;»)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812902" y="525780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 засчитывается полностью (1), частично (0,5 — близко, но неточно) или не засчитывается (0).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А: сходство с авторским переводом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12902" y="1371600"/>
          <a:ext cx="72237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12902" y="57607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простой промпт, 2 — с глоссарием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8503920" y="1463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176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у DeepSeek — максимум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2834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≈57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8503920" y="3547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у GigaChat и Алисы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4206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+0…1.4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4919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даёт глоссарий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Косинусное сходство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41732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Перевод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 TF-IDF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 эмбеддингов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GigaChat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GigaChat 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Алиса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Алиса 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12902" y="4754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эмбеддинги: усреднённые векторы слов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6400800" y="1417320"/>
            <a:ext cx="4974336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2571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629400" y="15544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Опыт: исправили 4 термина в переводе DeepSeek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629400" y="21945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deviation → root-mean-square deviation, free terms → constant terms, open → expand the brackets, tabular dependence → tabulated function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629400" y="3291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0.997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6629400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TF-IDF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183880" y="3291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0.9999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8183880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эмбеддингов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738360" y="3291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9738360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4434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грубые ошибки почти не влияют на метрики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812902" y="5440680"/>
            <a:ext cx="105668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косинусное сходство подтверждает близость к эталону, но, как и BLEU, не ловит ошибки в терминах.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Термины из глоссария: без глоссария и с ним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620256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 1 — без глоссария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997696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 2 — с глоссарием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645920"/>
          <a:ext cx="10566806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2743200"/>
                <a:gridCol w="793699"/>
                <a:gridCol w="793699"/>
                <a:gridCol w="793699"/>
                <a:gridCol w="793699"/>
                <a:gridCol w="793699"/>
                <a:gridCol w="79187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Термин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Перевод по глоссарию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аппроксимация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approximation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аппроксимирующая функция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approximating function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сглаживание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smoothing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эмпирическая формула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empirical formula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 наименьших квадратов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least squares method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интерполяционный многочлен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interpolation polynomial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среднеквадратическое приближение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least-squares approximation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 близости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closeness criterion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Итого из 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12902" y="5440680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глоссария ошибки: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«least squares method» вместо «least-squares approximation» (метод вместо приближения) и «proximity criterion» вместо «closeness criterion». С глоссарием обе исправлены у всех трёх моделей.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Термины вне глоссария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98448"/>
            <a:ext cx="105668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тексте есть и другие термины. Ошибки в них показывают, что нужно было внести в глоссарий.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691640"/>
          <a:ext cx="10566806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2651760"/>
                <a:gridCol w="793699"/>
                <a:gridCol w="793699"/>
                <a:gridCol w="793699"/>
                <a:gridCol w="793699"/>
                <a:gridCol w="793699"/>
                <a:gridCol w="79187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Термин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Правильно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составление функции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57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среднее квадратичное отклонение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 deviation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57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57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57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57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величина достоверности R²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coefficient of determination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обязательное условие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necessary condition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случайные помехи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noise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свободные члены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 terms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открываем скобки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expand the brackets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табличная зависимость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tabulated function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Итого из 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A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2902" y="5349240"/>
            <a:ext cx="105668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— DeepSeek, GC — GigaChat, А — Алиса; 1 — простой промпт, 2 — с глоссарием. ✓ верно, ~ неточно (0,5), ✗ ошибка. Ответы моделей: standard / mean square deviation, reliability measure, free terms, open the brackets, tabular dependence.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 глоссарий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12902" y="141732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41502" y="1673352"/>
            <a:ext cx="18288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361542" y="15727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Помогло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41502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 близости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41502" y="28986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closeness criterion: 0 из 3 без глоссария → 3 из 3 с ним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41502" y="3794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среднеквадратическое приближение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41502" y="436168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least-squares approximation: 1 из 3 → 3 из 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06494" y="141732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35094" y="1673352"/>
            <a:ext cx="182880" cy="182880"/>
          </a:xfrm>
          <a:prstGeom prst="rect">
            <a:avLst/>
          </a:prstGeom>
          <a:solidFill>
            <a:srgbClr val="C2571A"/>
          </a:solidFill>
          <a:ln w="12700">
            <a:solidFill>
              <a:srgbClr val="C257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55134" y="15727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Навредило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35094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(не в глоссарии)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635094" y="28986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 of determination: 2 из 3 с промптом 1 → 0 из 3 с промптом 2 (стало reliability measure)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635094" y="3794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635094" y="436168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тавтология: Approximation using least-squares approximation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00086" y="141732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8686" y="1673352"/>
            <a:ext cx="182880" cy="18288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48726" y="15727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 правило не помогло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28686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свободные члены, скобки, табличная зависимость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228686" y="28986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«используй общепринятую терминологию, не дословный перевод» не сработало: калька в 6 переводах из 6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12902" y="5486400"/>
            <a:ext cx="105668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глоссарий работает только для своих терминов, поэтому в него нужно включать и «простые» обороты вроде свободных членов и скобок.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эксперимента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371600"/>
          <a:ext cx="10566806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514600"/>
                <a:gridCol w="2606040"/>
                <a:gridCol w="252008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1 /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GigaChat 1 /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Алиса 1 /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76.4 / 76.4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56.6 / 58.0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56.7 / 57.9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88.6 / 89.3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77.4 / 78.9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78.2 / 81.6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 TF-IDF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 / 0.91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 / 0.79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 / 0.82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Термины из глоссария, из 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/ 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/ 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/ 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Термины вне глоссария, из 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/ 3.5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 / 3.5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/ 3.5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Формат ответа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только перевод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пересказ на русском, обращение к пользователю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нужен второй запрос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12902" y="4892040"/>
            <a:ext cx="105668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Лучшая модель: DeepSeek.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и у неё половина терминов вне глоссария переведена неверно или неточно: без глоссария и ручной проверки научный перевод не обходится.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работа: задание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32588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сравнить переводы трёх LLM с авторским и проверить термины.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783080"/>
          <a:ext cx="10566806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7640726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Шаг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сделать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Выбрать статью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 русском, с авторскими английскими названием, аннотацией и ключевыми словами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Подготовить текст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Часть А: русские название, аннотация, ключевые слова. Часть Б: 200–300 слов основного текста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Составить глоссарий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5–10 терминов с проверенными переводами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Перевести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модели × 2 промпта (простой и с глоссарием), каждый в новом чате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Посчитать метрики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Для части А: BLEU и косинусное сходство с авторским переводом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Проверить термины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Таблица «термин × перевод»: ✓ верно, ~ неточно, ✗ ошибка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Сделать вывод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Лучшая модель и что изменил глоссарий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2902" y="5440680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Калькуляторы: metricgate.com/calculator/bleu-machine-translation, metricgate.com/calculator/text-similarity-analysis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работа: что сдать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0" y="1417320"/>
            <a:ext cx="670255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063240" y="1645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3063240" y="219456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Статья, глоссарий и оба промпта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метрик для части А: BLEU и косинусное сходство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проверки терминов для частей А и Б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переводов, ошибки в терминах выделены красным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лучшая модель и что дал глоссарий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источников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12902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24382" y="1325880"/>
            <a:ext cx="10155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Papineni K. et al. BLEU: a method for automatic evaluation of machine translation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24382" y="1627632"/>
            <a:ext cx="10155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Proceedings of ACL, 2002 · метрика BLEU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12902" y="19293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24382" y="1929384"/>
            <a:ext cx="10155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Popović M. chrF: character n-gram F-score for automatic MT evaluation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24382" y="2231136"/>
            <a:ext cx="10155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Proceedings of WMT, 2015 · метрика chrF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902" y="2532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24382" y="2532888"/>
            <a:ext cx="10155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Manning C., Raghavan P., Schütze H. Introduction to Information Retrieval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24382" y="2834640"/>
            <a:ext cx="10155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Cambridge University Press, 2008 · TF-IDF и косинусное сходство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12902" y="3136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24382" y="3136392"/>
            <a:ext cx="10155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 Р 7.0.7-2021. Статьи в журналах и сборниках. Издательское оформление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24382" y="3438144"/>
            <a:ext cx="10155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 к метаданным статьи на английском языке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2902" y="37398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24382" y="3739896"/>
            <a:ext cx="10155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Тюнькин А.Б., Пармузина М.С. Аппроксимация с помощью среднеквадратического приближения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24382" y="4041648"/>
            <a:ext cx="10155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Вестник науки, 2024, № 1 (70), т. 3, с. 1062–1073 · статья для эксперимента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2902" y="4343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24382" y="4343400"/>
            <a:ext cx="10155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Multitran: многоязычный словарь терминов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24382" y="4645152"/>
            <a:ext cx="10155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multitran.com · поиск эквивалентов для глоссария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2902" y="4946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24382" y="4946904"/>
            <a:ext cx="10155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Burden R.L., Faires J.D. Numerical Analysis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24382" y="5248656"/>
            <a:ext cx="10155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Cengage Learning · гл. 8 «Approximation Theory»: Least Squares Approximation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2902" y="5550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224382" y="5550408"/>
            <a:ext cx="10155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Encyclopedia of Mathematics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24382" y="5852160"/>
            <a:ext cx="10155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encyclopediaofmath.org · англоязычная математическая энциклопедия, статья «Mean-square approximation of a function»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902" y="566928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463040"/>
            <a:ext cx="1056680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научном переводе главное — точный и единообразный перевод терминов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переводят гладко, но термины часто дословно: кальки и ложные друзья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Глоссарий в промпте исправляет только те термины, которые в нём есть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Слишком строгий промпт делает перевод буквальнее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BLEU, chrF и косинусное сходство не замечают ошибок в терминах — нужна ручная проверка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Эксперимент: лучшая модель DeepSeek, но и у неё половина терминов вне глоссария с ошибкой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4526280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1632" y="6336792"/>
            <a:ext cx="603504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Перевод текста на английский с правильной терминологией</dc:title>
  <dc:subject>PptxGenJS Presentation</dc:subject>
  <dc:creator>Фролов И., Поляков В.</dc:creator>
  <cp:lastModifiedBy>Фролов И., Поляков В.</cp:lastModifiedBy>
  <cp:revision>1</cp:revision>
  <dcterms:created xsi:type="dcterms:W3CDTF">2026-10-28T20:57:20Z</dcterms:created>
  <dcterms:modified xsi:type="dcterms:W3CDTF">2026-10-28T20:57:20Z</dcterms:modified>
</cp:coreProperties>
</file>