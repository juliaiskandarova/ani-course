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73" r:id="rId16"/>
    <p:sldId id="275" r:id="rId17"/>
    <p:sldId id="274" r:id="rId18"/>
    <p:sldId id="276" r:id="rId19"/>
    <p:sldId id="277" r:id="rId20"/>
    <p:sldId id="269" r:id="rId21"/>
    <p:sldId id="270"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868" autoAdjust="0"/>
    <p:restoredTop sz="94610"/>
  </p:normalViewPr>
  <p:slideViewPr>
    <p:cSldViewPr snapToGrid="0" snapToObjects="1">
      <p:cViewPr varScale="1">
        <p:scale>
          <a:sx n="81" d="100"/>
          <a:sy n="81" d="100"/>
        </p:scale>
        <p:origin x="61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5148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Всем привет. Меня зовут Олег, у меня первая тема курса: генерация аннотаций по тексту. За 10-15 минут разберём, что считается аннотацией, какие есть подходы к её автоматической генерации, как это делать с LLM на практике, где модели ошибаются и как это проверять.</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Сначала о терминах. ГОСТ Р 7.0.99-2018 различает два понятия. Аннотация это краткая характеристика документа: о чём он и для кого, без подробностей. Реферат это сжатое изложение содержания: цель, методы, результаты и выводы, обычно с конкретными цифрами. То, что журналы называют abstract или аннотацией, по сути ближе к реферату: там ожидают результаты и данные. Поэтому дальше под аннотацией я понимаю именно журнальный abstract.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Хорошая аннотация почти всегда состоит из четырёх частей: цель работы, методы, результаты и выводы. На слайде условный пример, где каждая часть выделена своим цветом. Эту же разметку удобно использовать как чек-лист для проверки сгенерированной аннотации. Самая важная часть результаты: если их нет, читатель не поймёт, стоит ли открывать статью. Забегая вперёд, именно результаты нейросети чаще всего теряют или искажают.</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Все методы автоматической генерации делятся на два класса. На схеме слева исходная статья. Экстрактивный метод выбирает из неё несколько предложений и копирует их без изменений. Абстрактивный метод читает текст целиком и пишет аннотацию заново, своими словами. Разберём оба.</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Начнём с простого подхода. Идея: ничего нового не писать, а выбрать из статьи несколько самых важных предложений и сложить их в аннотацию. Как понять, какое предложение важное? Логика такая: если предложение похоже на многие другие предложения текста, значит, оно говорит о главной теме статьи. На схеме кружок это предложение, линия значит, что два предложения похожи. Предложение S3 связано почти со всеми, поэтому оно самое важное. Баллы считает алгоритм PageRank, тот самый, которым Google когда-то ранжировал сайты: сайт важный, если на него ссылаются другие сайты, а здесь предложение важное, если на него похожи другие предложения. TextRank и LexRank это два варианта такого метода, они отличаются только тем, как считается похожесть. Плюс подхода: факты не искажаются, потому что все предложения взяты из статьи. Минус: предложения вырваны из разных мест, и текст получается несвязным.</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Разберём на игрушечном примере из пяти предложений. Слова, которые встречаются в нескольких предложениях, выделены синим. Для каждого предложения считаем, сколько у него общих слов с остальными, слова берём в начальной форме. Это упрощённая версия TextRank, но суть та же. Третье предложение набирает 6 баллов, потому что пересекается почти со всеми. Первое набирает 4. Предложение про год выполнения работы ни с чем не связано и получает ноль: оно действительно не про суть. В итоге аннотация собирается из третьего и первого предложений.</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Абстрактивный подход: модель читает текст и пишет аннотацию своими словами. Классическая архитектура seq2seq: энкодер читает статью и строит её внутреннее представление, декодер по нему пишет аннотацию. Сюда относятся BART и PEGASUS, для русского языка ruT5 и FRED-T5. Их дообучают на парах «статья и аннотация», и они работают локально. Большие языковые модели, GPT, Claude, GigaChat, YandexGPT, решают ту же задачу одной моделью по промпту, обучать их не нужно. Плюс подхода: связный текст. Минус: модель может добавить факты, которых в статье нет.</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Сравним три варианта. Экстрактивный метод не выдумывает факты и работает на обычном компьютере с текстом любой длины, но читается несвязно. Seq2seq-модели пишут связно, но их нужно дообучать, и за раз они читают только короткий текст, несколько страниц. LLM пишут связно без обучения и читают длинные тексты, но, как и seq2seq, могут выдумать факты. Зелёным отмечены сильные стороны, красным слабые.</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это делается с LLM на практике. Слева пример промпта, цветом выделены три важные части. Синим: структура и объём, без этого результат получается либо слишком коротким, либо пересказом на полстраницы. Зелёным: пример аннотации из того журнала, куда планируется подача, так называемый few-shot. По примеру модель подхватывает стиль лучше, чем по описанию. Оранжевым: явный запрет использовать данные не из текста. Это не гарантия, но заметно снижает число выдуманных фактов.</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Отдельная задача: длинные тексты. Статья на 10 страниц помещается в контекст любой современной LLM, а ВКР, диссертация или локальная модель с небольшим окном контекста уже нет. Для этого используется схема map-reduce. На шаге map текст делится на разделы, и для каждого модель делает короткую выжимку. На шаге reduce модель получает только выжимки и по ним пишет итоговую аннотацию. Дополнительный плюс: модель не упускает середину длинного текста.</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о типичных ошибках, на слайде условные примеры. Первая и самая опасная: галлюцинации. В статье написано, что точность сопоставима с методом конечных разностей, а модель пишет, что на 15 процентов выше. Выглядит убедительно, поэтому такую ошибку легко пропустить. Вторая: потеря главного, модель пересказывает актуальность вместо результата. Третья: шаблонные фразы вроде «в данной работе рассматривается актуальная проблема». Четвёртая: несоответствие формату, журнал просит до 250 слов, а модель выдаёт в два раза больше. Первые две ошибки критичны, вторые две исправляются промптом.</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Как оценивать результат. Сверху пример: авторская фраза и сгенерированная. Метрика ROUGE просто считает, какая доля слов авторской аннотации встретилась в сгенерированной. Здесь совпали пять слов из семи. Слова «распределение» и «измерениям» по смыслу верные, но ROUGE их не засчитывает, потому что сравнивает только написание. BERTScore умнее: нейросеть BERT переводит слова в наборы чисел так, что близкие по смыслу слова получают близкие числа, и сравнивает уже смысл. Но обе метрики не замечают главного: если модель заменила 85 процентов на 95, тексты почти совпадут и метрики будут высокими. Поэтому нужна ручная проверка: каждое утверждение аннотации ищется в статье.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практическая часть. Я проверил три модели на своей статье про стабилизацию обратного маятника нейросетевым методом, она вышла в журнале Optical Memory and Neural Networks в 2023 году. У статьи есть авторская аннотация, её берём как эталон. Из текста статьи аннотацию удаляем, иначе модель просто перепишет готовый ответ. Этот текст с одним и тем же промптом отдаём трём моделям: Claude Sonnet, DeepSeek и ChatGPT, каждую в новом чате. Потом сравниваем их аннотации с авторской.</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Это промпт, который я использовал. Синим структура и объём: четыре части, 70-100 слов. Объём я подогнал под авторскую аннотацию, в ней около 80 слов, иначе ROUGE падает просто из-за длины. Язык английский, потому что эталон на английском. Оранжевым правила по фактам: только то, что есть в статье, числа и названия дословно. Зелёным самопроверка: модель перед ответом сверяет каждое утверждение с текстом. Внизу в кавычках сам текст статьи, чтобы модель не путала инструкцию и статью.</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Сравниваем по четырём показателям. ROUGE-1 считает, какая доля слов авторской аннотации повторилась у модели. ROUGE-L смотрит на самую длинную общую цепочку слов, то есть учитывает порядок. Их считаем в онлайн-калькуляторе MetricGate: сверху вставляется аннотация модели, снизу авторская. Точность фактов и галлюцинации считаем вручную: разбиваем аннотацию на утверждения и каждое ищем в статье. Главная метрика здесь точность фактов, потому что ROUGE может быть высоким даже у аннотации с неверной цифрой.</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Сверху авторская аннотация, ниже три аннотации моделей. Каждое утверждение я проверил по тексту статьи, выдуманных фактов нет. Например, доля успешных точек до 1.00 у перцептрона и самое короткое время у гауссовой сети на 20 нейронов действительно есть в таблице результатов. Разница в акцентах: Claude Sonnet приводит цифры из экспериментов, DeepSeek пересказывает рекомендации из выводов, ChatGPT описывает условия эксперимента: 100 стартовых точек и сети на 5, 10 и 20 нейронов. Автор же делает упор на значимость задачи и идею метода.</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Результаты. По ROUGE-1 ближе всех к авторской аннотации DeepSeek и Claude Sonnet, около 41 процента, у ChatGPT 33. По ROUGE-L все три примерно одинаковы, около 21 процента. Выдуманных фактов я не нашёл ни у одной модели, структура из четырёх частей есть у всех, объём около 95 слов при 80 у автора. Почему ROUGE не выше: модели сделали акцент не на том, на чём автор. Автор начинает со значимости задачи управления неустойчивыми системами и коротко описывает идею метода. Модели же пересказывают детали: условия экспериментов, цифры, рекомендации. По смыслу это верно, но слова другие, и ROUGE это наказывает.</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Теперь задание для вас, это и есть лабораторная. Берёте свою статью или любую из журнала, главное, чтобы у неё была авторская аннотация. Удаляете аннотацию из текста и сохраняете её отдельно, это эталон. Прогоняете промпт со слайда 14 в трёх моделях, каждую в новом чате. ROUGE считаете в калькуляторе по ссылке внизу: сверху аннотация модели, снизу авторская. Потом вручную проверяете факты и заполняете таблицу.</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Что сдать: таблицу результатов, авторскую аннотацию и три сгенерированные с выделенными ошибками, и ответы на три вопроса. Самый интересный второй: совпала ли лучшая модель по ROUGE с лучшей по фактам. Обычно не совпадает, и это хорошо показывает, почему одной метрики мало.</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Основные источники. Все статьи на Хабре, на русском и без сложной математики: про TextRank и библиотеку sumy, про то, как Сбер делал суммаризатор на ruT5 и оценивал его по ROUGE и BERTScore, про составление промптов и про галлюцинации моделей. Плюс ГОСТ про аннотацию и реферат.</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Подведу итог. Журнальная аннотация по сути реферат: цель, методы, результаты, выводы. Экстрактивные методы надёжны, но текст получается несвязным. LLM пишут связно, но могут ошибаться в фактах, поэтому помогает структурированный промпт с примерами. И главное: метрики не находят выдуманные цифры, каждую сгенерированную аннотацию нужно проверять вручную. И по эксперименту: все три модели написали аннотацию без выдуманных фактов, но с другими акцентами, чем у автора, поэтому ROUGE получился 33-41 процент. Спасибо за внимание, готов ответить на вопросы.</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F3A68"/>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323340"/>
            <a:ext cx="10566400" cy="4721860"/>
          </a:xfrm>
          <a:prstGeom prst="rect">
            <a:avLst/>
          </a:prstGeom>
          <a:noFill/>
          <a:ln/>
        </p:spPr>
        <p:txBody>
          <a:bodyPr wrap="square" lIns="0" tIns="0" rIns="0" bIns="0" rtlCol="0" anchor="t"/>
          <a:lstStyle>
            <a:lvl1pPr marL="0" indent="0" algn="l">
              <a:lnSpc>
                <a:spcPct val="140000"/>
              </a:lnSpc>
              <a:buNone/>
              <a:defRPr lang="en-US" sz="1600" dirty="0">
                <a:solidFill>
                  <a:srgbClr val="1A1A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609600"/>
            <a:ext cx="10566400" cy="408940"/>
          </a:xfrm>
          <a:prstGeom prst="rect">
            <a:avLst/>
          </a:prstGeom>
          <a:noFill/>
          <a:ln/>
        </p:spPr>
        <p:txBody>
          <a:bodyPr wrap="square" lIns="0" tIns="0" rIns="0" bIns="0" rtlCol="0" anchor="t"/>
          <a:lstStyle>
            <a:lvl1pPr marL="0" indent="0" algn="l">
              <a:lnSpc>
                <a:spcPct val="115000"/>
              </a:lnSpc>
              <a:buNone/>
              <a:defRPr lang="en-US" sz="2800" dirty="0">
                <a:solidFill>
                  <a:srgbClr val="1F3A68"/>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800" y="1323340"/>
            <a:ext cx="10566400" cy="4721860"/>
          </a:xfrm>
          <a:prstGeom prst="rect">
            <a:avLst/>
          </a:prstGeom>
          <a:noFill/>
          <a:ln/>
        </p:spPr>
        <p:txBody>
          <a:bodyPr wrap="square" lIns="0" tIns="0" rIns="0" bIns="0" rtlCol="0" anchor="t"/>
          <a:lstStyle>
            <a:lvl1pPr marL="0" indent="0" algn="l">
              <a:lnSpc>
                <a:spcPct val="140000"/>
              </a:lnSpc>
              <a:buNone/>
              <a:defRPr lang="en-US" sz="1600" dirty="0">
                <a:solidFill>
                  <a:srgbClr val="1A1A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metricgate.com/calculator/rouge-score"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metricgate.com/calculator/rouge-scor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habr.com/ru/companies/beeline_cloud/articles/886706/"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habr.com/ru/articles/902330/" TargetMode="External"/><Relationship Id="rId5" Type="http://schemas.openxmlformats.org/officeDocument/2006/relationships/hyperlink" Target="https://habr.com/ru/companies/sberdevices/articles/666420/" TargetMode="External"/><Relationship Id="rId4" Type="http://schemas.openxmlformats.org/officeDocument/2006/relationships/hyperlink" Target="https://habr.com/ru/companies/otus/articles/832940/"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190625" y="609600"/>
            <a:ext cx="9810750" cy="292100"/>
          </a:xfrm>
          <a:prstGeom prst="rect">
            <a:avLst/>
          </a:prstGeom>
          <a:noFill/>
          <a:ln/>
        </p:spPr>
        <p:txBody>
          <a:bodyPr wrap="square" lIns="0" tIns="0" rIns="0" bIns="0" rtlCol="0" anchor="t">
            <a:normAutofit/>
          </a:bodyPr>
          <a:lstStyle/>
          <a:p>
            <a:pPr marL="0" indent="0" algn="ctr">
              <a:lnSpc>
                <a:spcPts val="2100"/>
              </a:lnSpc>
              <a:buNone/>
            </a:pPr>
            <a:r>
              <a:rPr lang="en-US" sz="1500" dirty="0">
                <a:solidFill>
                  <a:srgbClr val="1A1A1A"/>
                </a:solidFill>
                <a:latin typeface="Arial" pitchFamily="34" charset="0"/>
                <a:ea typeface="Arial" pitchFamily="34" charset="-122"/>
                <a:cs typeface="Arial" pitchFamily="34" charset="-120"/>
              </a:rPr>
              <a:t>Санкт-Петербургский политехнический университет Петра Великого</a:t>
            </a:r>
            <a:endParaRPr lang="en-US" sz="1500" dirty="0"/>
          </a:p>
        </p:txBody>
      </p:sp>
      <p:sp>
        <p:nvSpPr>
          <p:cNvPr id="4" name="Text 2"/>
          <p:cNvSpPr>
            <a:spLocks noGrp="1"/>
          </p:cNvSpPr>
          <p:nvPr>
            <p:ph type="title"/>
          </p:nvPr>
        </p:nvSpPr>
        <p:spPr>
          <a:xfrm>
            <a:off x="863600" y="2264013"/>
            <a:ext cx="10464800" cy="609600"/>
          </a:xfrm>
          <a:prstGeom prst="rect">
            <a:avLst/>
          </a:prstGeom>
          <a:noFill/>
          <a:ln/>
        </p:spPr>
        <p:txBody>
          <a:bodyPr wrap="square" lIns="0" tIns="0" rIns="0" bIns="0" rtlCol="0" anchor="t">
            <a:normAutofit/>
          </a:bodyPr>
          <a:lstStyle/>
          <a:p>
            <a:pPr marL="0" indent="0" algn="ctr">
              <a:lnSpc>
                <a:spcPts val="4600"/>
              </a:lnSpc>
              <a:buNone/>
            </a:pPr>
            <a:r>
              <a:rPr lang="en-US" sz="4000" b="1" i="0" dirty="0">
                <a:solidFill>
                  <a:srgbClr val="1F3A68"/>
                </a:solidFill>
                <a:latin typeface="Arial" pitchFamily="34" charset="0"/>
                <a:ea typeface="Arial" pitchFamily="34" charset="-122"/>
                <a:cs typeface="Arial" pitchFamily="34" charset="-120"/>
              </a:rPr>
              <a:t>Генерация аннотаций по тексту</a:t>
            </a:r>
            <a:endParaRPr lang="en-US" sz="4000" dirty="0"/>
          </a:p>
        </p:txBody>
      </p:sp>
      <p:sp>
        <p:nvSpPr>
          <p:cNvPr id="5" name="Text 3"/>
          <p:cNvSpPr/>
          <p:nvPr/>
        </p:nvSpPr>
        <p:spPr>
          <a:xfrm>
            <a:off x="1517650" y="3000613"/>
            <a:ext cx="9156700" cy="327660"/>
          </a:xfrm>
          <a:prstGeom prst="rect">
            <a:avLst/>
          </a:prstGeom>
          <a:noFill/>
          <a:ln/>
        </p:spPr>
        <p:txBody>
          <a:bodyPr wrap="square" lIns="0" tIns="0" rIns="0" bIns="0" rtlCol="0" anchor="t">
            <a:normAutofit/>
          </a:bodyPr>
          <a:lstStyle/>
          <a:p>
            <a:pPr marL="0" indent="0" algn="ctr">
              <a:lnSpc>
                <a:spcPts val="2380"/>
              </a:lnSpc>
              <a:buNone/>
            </a:pPr>
            <a:r>
              <a:rPr lang="en-US" sz="1700" dirty="0">
                <a:solidFill>
                  <a:srgbClr val="555555"/>
                </a:solidFill>
                <a:latin typeface="Arial" pitchFamily="34" charset="0"/>
                <a:ea typeface="Arial" pitchFamily="34" charset="-122"/>
                <a:cs typeface="Arial" pitchFamily="34" charset="-120"/>
              </a:rPr>
              <a:t>Доклад по дисциплине «Автоматизация научных исследований»</a:t>
            </a:r>
            <a:endParaRPr lang="en-US" sz="1700" dirty="0"/>
          </a:p>
        </p:txBody>
      </p:sp>
      <p:sp>
        <p:nvSpPr>
          <p:cNvPr id="6" name="Text 4"/>
          <p:cNvSpPr/>
          <p:nvPr/>
        </p:nvSpPr>
        <p:spPr>
          <a:xfrm>
            <a:off x="6934200" y="4365387"/>
            <a:ext cx="4578350"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1A1A1A"/>
                </a:solidFill>
                <a:latin typeface="Arial" pitchFamily="34" charset="0"/>
                <a:ea typeface="Arial" pitchFamily="34" charset="-122"/>
                <a:cs typeface="Arial" pitchFamily="34" charset="-120"/>
              </a:rPr>
              <a:t>Выполнил: Скрипкин О. А., </a:t>
            </a:r>
            <a:r>
              <a:rPr lang="ru-RU" sz="1500" dirty="0">
                <a:solidFill>
                  <a:srgbClr val="1A1A1A"/>
                </a:solidFill>
                <a:latin typeface="Arial" pitchFamily="34" charset="0"/>
                <a:ea typeface="Arial" pitchFamily="34" charset="-122"/>
                <a:cs typeface="Arial" pitchFamily="34" charset="-120"/>
              </a:rPr>
              <a:t>504102</a:t>
            </a:r>
            <a:r>
              <a:rPr lang="en-US" sz="1500" dirty="0">
                <a:solidFill>
                  <a:srgbClr val="1A1A1A"/>
                </a:solidFill>
                <a:latin typeface="Arial" pitchFamily="34" charset="0"/>
                <a:ea typeface="Arial" pitchFamily="34" charset="-122"/>
                <a:cs typeface="Arial" pitchFamily="34" charset="-120"/>
              </a:rPr>
              <a:t>/60201</a:t>
            </a:r>
            <a:endParaRPr lang="en-US" sz="1500" dirty="0"/>
          </a:p>
        </p:txBody>
      </p:sp>
      <p:sp>
        <p:nvSpPr>
          <p:cNvPr id="7" name="Text 5"/>
          <p:cNvSpPr/>
          <p:nvPr/>
        </p:nvSpPr>
        <p:spPr>
          <a:xfrm>
            <a:off x="654304" y="5999480"/>
            <a:ext cx="10883392" cy="274320"/>
          </a:xfrm>
          <a:prstGeom prst="rect">
            <a:avLst/>
          </a:prstGeom>
          <a:noFill/>
          <a:ln/>
        </p:spPr>
        <p:txBody>
          <a:bodyPr wrap="square" lIns="0" tIns="0" rIns="0" bIns="0" rtlCol="0" anchor="t">
            <a:normAutofit/>
          </a:bodyPr>
          <a:lstStyle/>
          <a:p>
            <a:pPr marL="0" indent="0" algn="ctr">
              <a:lnSpc>
                <a:spcPts val="1960"/>
              </a:lnSpc>
              <a:buNone/>
            </a:pPr>
            <a:r>
              <a:rPr lang="en-US" sz="1400" dirty="0">
                <a:solidFill>
                  <a:srgbClr val="1A1A1A"/>
                </a:solidFill>
                <a:latin typeface="Arial" pitchFamily="34" charset="0"/>
                <a:ea typeface="Arial" pitchFamily="34" charset="-122"/>
                <a:cs typeface="Arial" pitchFamily="34" charset="-120"/>
              </a:rPr>
              <a:t>Санкт-Петербург,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699008" y="1073307"/>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Аннотация и реферат</a:t>
            </a:r>
            <a:endParaRPr lang="en-US" sz="2800" dirty="0"/>
          </a:p>
        </p:txBody>
      </p:sp>
      <p:pic>
        <p:nvPicPr>
          <p:cNvPr id="3" name="Image 0" descr="line"/>
          <p:cNvPicPr>
            <a:picLocks noChangeAspect="1"/>
          </p:cNvPicPr>
          <p:nvPr/>
        </p:nvPicPr>
        <p:blipFill>
          <a:blip r:embed="rId3"/>
          <a:srcRect/>
          <a:stretch/>
        </p:blipFill>
        <p:spPr>
          <a:xfrm>
            <a:off x="699008" y="1609247"/>
            <a:ext cx="10566400" cy="19050"/>
          </a:xfrm>
          <a:prstGeom prst="rect">
            <a:avLst/>
          </a:prstGeom>
        </p:spPr>
      </p:pic>
      <p:sp>
        <p:nvSpPr>
          <p:cNvPr id="4" name="Text 1"/>
          <p:cNvSpPr/>
          <p:nvPr/>
        </p:nvSpPr>
        <p:spPr>
          <a:xfrm>
            <a:off x="776479" y="2287807"/>
            <a:ext cx="52585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3A68"/>
                </a:solidFill>
                <a:latin typeface="Arial" pitchFamily="34" charset="0"/>
                <a:ea typeface="Arial" pitchFamily="34" charset="-122"/>
                <a:cs typeface="Arial" pitchFamily="34" charset="-120"/>
              </a:rPr>
              <a:t>Аннотация</a:t>
            </a:r>
            <a:endParaRPr lang="en-US" sz="2000" dirty="0"/>
          </a:p>
        </p:txBody>
      </p:sp>
      <p:sp>
        <p:nvSpPr>
          <p:cNvPr id="5" name="Text 2"/>
          <p:cNvSpPr/>
          <p:nvPr/>
        </p:nvSpPr>
        <p:spPr>
          <a:xfrm>
            <a:off x="776479" y="2719607"/>
            <a:ext cx="525856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A1A1A"/>
                </a:solidFill>
                <a:latin typeface="Arial" pitchFamily="34" charset="0"/>
                <a:ea typeface="Arial" pitchFamily="34" charset="-122"/>
                <a:cs typeface="Arial" pitchFamily="34" charset="-120"/>
              </a:rPr>
              <a:t>Краткая характеристика документа: о чём он и для кого.</a:t>
            </a:r>
            <a:endParaRPr lang="en-US" sz="1600" dirty="0"/>
          </a:p>
        </p:txBody>
      </p:sp>
      <p:sp>
        <p:nvSpPr>
          <p:cNvPr id="6" name="Shape 3"/>
          <p:cNvSpPr/>
          <p:nvPr/>
        </p:nvSpPr>
        <p:spPr>
          <a:xfrm>
            <a:off x="776479" y="3415567"/>
            <a:ext cx="5105400" cy="1640840"/>
          </a:xfrm>
          <a:prstGeom prst="rect">
            <a:avLst/>
          </a:prstGeom>
          <a:solidFill>
            <a:srgbClr val="F2F2F2"/>
          </a:solidFill>
          <a:ln/>
        </p:spPr>
      </p:sp>
      <p:sp>
        <p:nvSpPr>
          <p:cNvPr id="7" name="Shape 4"/>
          <p:cNvSpPr/>
          <p:nvPr/>
        </p:nvSpPr>
        <p:spPr>
          <a:xfrm>
            <a:off x="795529" y="3415567"/>
            <a:ext cx="0" cy="1640840"/>
          </a:xfrm>
          <a:prstGeom prst="line">
            <a:avLst/>
          </a:prstGeom>
          <a:noFill/>
          <a:ln w="38100">
            <a:solidFill>
              <a:srgbClr val="1F3A68"/>
            </a:solidFill>
            <a:prstDash val="solid"/>
          </a:ln>
        </p:spPr>
      </p:sp>
      <p:sp>
        <p:nvSpPr>
          <p:cNvPr id="8" name="Text 5"/>
          <p:cNvSpPr/>
          <p:nvPr/>
        </p:nvSpPr>
        <p:spPr>
          <a:xfrm>
            <a:off x="1015239" y="3593367"/>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55555"/>
                </a:solidFill>
                <a:latin typeface="Arial" pitchFamily="34" charset="0"/>
                <a:ea typeface="Arial" pitchFamily="34" charset="-122"/>
                <a:cs typeface="Arial" pitchFamily="34" charset="-120"/>
              </a:rPr>
              <a:t>ПРИМЕР</a:t>
            </a:r>
            <a:endParaRPr lang="en-US" sz="1200" dirty="0"/>
          </a:p>
        </p:txBody>
      </p:sp>
      <p:sp>
        <p:nvSpPr>
          <p:cNvPr id="9" name="Text 6"/>
          <p:cNvSpPr/>
          <p:nvPr/>
        </p:nvSpPr>
        <p:spPr>
          <a:xfrm>
            <a:off x="1015239" y="3882927"/>
            <a:ext cx="4803343" cy="102108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1A1A1A"/>
                </a:solidFill>
                <a:latin typeface="Arial" pitchFamily="34" charset="0"/>
                <a:ea typeface="Arial" pitchFamily="34" charset="-122"/>
                <a:cs typeface="Arial" pitchFamily="34" charset="-120"/>
              </a:rPr>
              <a:t>В статье рассматривается применение нейронных сетей для моделирования теплопроводности. Работа адресована специалистам по численным методам.</a:t>
            </a:r>
            <a:endParaRPr lang="en-US" sz="1400" dirty="0"/>
          </a:p>
        </p:txBody>
      </p:sp>
      <p:sp>
        <p:nvSpPr>
          <p:cNvPr id="10" name="Text 7"/>
          <p:cNvSpPr/>
          <p:nvPr/>
        </p:nvSpPr>
        <p:spPr>
          <a:xfrm>
            <a:off x="6291071" y="2185782"/>
            <a:ext cx="5258562"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F3A68"/>
                </a:solidFill>
                <a:latin typeface="Arial" pitchFamily="34" charset="0"/>
                <a:ea typeface="Arial" pitchFamily="34" charset="-122"/>
                <a:cs typeface="Arial" pitchFamily="34" charset="-120"/>
              </a:rPr>
              <a:t>Реферат</a:t>
            </a:r>
            <a:endParaRPr lang="en-US" sz="2000" dirty="0"/>
          </a:p>
        </p:txBody>
      </p:sp>
      <p:sp>
        <p:nvSpPr>
          <p:cNvPr id="11" name="Text 8"/>
          <p:cNvSpPr/>
          <p:nvPr/>
        </p:nvSpPr>
        <p:spPr>
          <a:xfrm>
            <a:off x="6291071" y="2617582"/>
            <a:ext cx="525856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A1A1A"/>
                </a:solidFill>
                <a:latin typeface="Arial" pitchFamily="34" charset="0"/>
                <a:ea typeface="Arial" pitchFamily="34" charset="-122"/>
                <a:cs typeface="Arial" pitchFamily="34" charset="-120"/>
              </a:rPr>
              <a:t>Сжатое изложение содержания: цель, методы, результаты, выводы.</a:t>
            </a:r>
            <a:endParaRPr lang="en-US" sz="1600" dirty="0"/>
          </a:p>
        </p:txBody>
      </p:sp>
      <p:sp>
        <p:nvSpPr>
          <p:cNvPr id="12" name="Shape 9"/>
          <p:cNvSpPr/>
          <p:nvPr/>
        </p:nvSpPr>
        <p:spPr>
          <a:xfrm>
            <a:off x="6254750" y="3428889"/>
            <a:ext cx="5105400" cy="1889760"/>
          </a:xfrm>
          <a:prstGeom prst="rect">
            <a:avLst/>
          </a:prstGeom>
          <a:solidFill>
            <a:srgbClr val="F2F2F2"/>
          </a:solidFill>
          <a:ln/>
        </p:spPr>
      </p:sp>
      <p:sp>
        <p:nvSpPr>
          <p:cNvPr id="13" name="Shape 10"/>
          <p:cNvSpPr/>
          <p:nvPr/>
        </p:nvSpPr>
        <p:spPr>
          <a:xfrm>
            <a:off x="6273800" y="3428889"/>
            <a:ext cx="0" cy="1889760"/>
          </a:xfrm>
          <a:prstGeom prst="line">
            <a:avLst/>
          </a:prstGeom>
          <a:noFill/>
          <a:ln w="38100">
            <a:solidFill>
              <a:srgbClr val="1F3A68"/>
            </a:solidFill>
            <a:prstDash val="solid"/>
          </a:ln>
        </p:spPr>
      </p:sp>
      <p:sp>
        <p:nvSpPr>
          <p:cNvPr id="14" name="Text 11"/>
          <p:cNvSpPr/>
          <p:nvPr/>
        </p:nvSpPr>
        <p:spPr>
          <a:xfrm>
            <a:off x="6493510" y="3606689"/>
            <a:ext cx="4803343"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55555"/>
                </a:solidFill>
                <a:latin typeface="Arial" pitchFamily="34" charset="0"/>
                <a:ea typeface="Arial" pitchFamily="34" charset="-122"/>
                <a:cs typeface="Arial" pitchFamily="34" charset="-120"/>
              </a:rPr>
              <a:t>ПРИМЕР</a:t>
            </a:r>
            <a:endParaRPr lang="en-US" sz="1200" dirty="0"/>
          </a:p>
        </p:txBody>
      </p:sp>
      <p:sp>
        <p:nvSpPr>
          <p:cNvPr id="15" name="Text 12"/>
          <p:cNvSpPr/>
          <p:nvPr/>
        </p:nvSpPr>
        <p:spPr>
          <a:xfrm>
            <a:off x="6493510" y="3896249"/>
            <a:ext cx="4803343" cy="127000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1A1A1A"/>
                </a:solidFill>
                <a:latin typeface="Arial" pitchFamily="34" charset="0"/>
                <a:ea typeface="Arial" pitchFamily="34" charset="-122"/>
                <a:cs typeface="Arial" pitchFamily="34" charset="-120"/>
              </a:rPr>
              <a:t>Цель работы: построить нейросетевую модель температурного поля. Сеть обучается на функции потерь с уравнением и граничными условиями. Решение согласуется с аналитическим. Подход применим при неполных данных.</a:t>
            </a:r>
            <a:endParaRPr lang="en-US" sz="1400" dirty="0"/>
          </a:p>
        </p:txBody>
      </p:sp>
      <p:sp>
        <p:nvSpPr>
          <p:cNvPr id="17" name="Text 14"/>
          <p:cNvSpPr/>
          <p:nvPr/>
        </p:nvSpPr>
        <p:spPr>
          <a:xfrm>
            <a:off x="812800" y="6339841"/>
            <a:ext cx="85026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ГОСТ Р 7.0.99-2018 «Реферат и аннотация»</a:t>
            </a:r>
            <a:endParaRPr lang="en-US" sz="1200" dirty="0"/>
          </a:p>
        </p:txBody>
      </p:sp>
      <p:sp>
        <p:nvSpPr>
          <p:cNvPr id="18" name="Text 15"/>
          <p:cNvSpPr/>
          <p:nvPr/>
        </p:nvSpPr>
        <p:spPr>
          <a:xfrm>
            <a:off x="10769600" y="63398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Структура аннотации</a:t>
            </a:r>
            <a:endParaRPr lang="en-US" sz="2800" dirty="0"/>
          </a:p>
        </p:txBody>
      </p:sp>
      <p:pic>
        <p:nvPicPr>
          <p:cNvPr id="3" name="Image 0" descr="line"/>
          <p:cNvPicPr>
            <a:picLocks noChangeAspect="1"/>
          </p:cNvPicPr>
          <p:nvPr/>
        </p:nvPicPr>
        <p:blipFill>
          <a:blip r:embed="rId3"/>
          <a:srcRect/>
          <a:stretch/>
        </p:blipFill>
        <p:spPr>
          <a:xfrm>
            <a:off x="812800" y="1145541"/>
            <a:ext cx="10566400" cy="19050"/>
          </a:xfrm>
          <a:prstGeom prst="rect">
            <a:avLst/>
          </a:prstGeom>
        </p:spPr>
      </p:pic>
      <p:sp>
        <p:nvSpPr>
          <p:cNvPr id="4" name="Shape 1"/>
          <p:cNvSpPr/>
          <p:nvPr/>
        </p:nvSpPr>
        <p:spPr>
          <a:xfrm>
            <a:off x="819150" y="1399541"/>
            <a:ext cx="6337300" cy="3705860"/>
          </a:xfrm>
          <a:prstGeom prst="rect">
            <a:avLst/>
          </a:prstGeom>
          <a:noFill/>
          <a:ln w="12700">
            <a:solidFill>
              <a:srgbClr val="C8C8C8"/>
            </a:solidFill>
            <a:prstDash val="solid"/>
          </a:ln>
        </p:spPr>
      </p:sp>
      <p:sp>
        <p:nvSpPr>
          <p:cNvPr id="5" name="Text 2"/>
          <p:cNvSpPr/>
          <p:nvPr/>
        </p:nvSpPr>
        <p:spPr>
          <a:xfrm>
            <a:off x="1076960" y="1631950"/>
            <a:ext cx="599633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55555"/>
                </a:solidFill>
                <a:latin typeface="Arial" pitchFamily="34" charset="0"/>
                <a:ea typeface="Arial" pitchFamily="34" charset="-122"/>
                <a:cs typeface="Arial" pitchFamily="34" charset="-120"/>
              </a:rPr>
              <a:t>Условный пример</a:t>
            </a:r>
            <a:endParaRPr lang="en-US" sz="1200" dirty="0"/>
          </a:p>
        </p:txBody>
      </p:sp>
      <p:sp>
        <p:nvSpPr>
          <p:cNvPr id="6" name="Text 3"/>
          <p:cNvSpPr/>
          <p:nvPr/>
        </p:nvSpPr>
        <p:spPr>
          <a:xfrm>
            <a:off x="1076960" y="1946911"/>
            <a:ext cx="5996330" cy="2951480"/>
          </a:xfrm>
          <a:prstGeom prst="rect">
            <a:avLst/>
          </a:prstGeom>
          <a:noFill/>
          <a:ln/>
        </p:spPr>
        <p:txBody>
          <a:bodyPr wrap="square" lIns="0" tIns="0" rIns="0" bIns="0" rtlCol="0" anchor="t">
            <a:normAutofit/>
          </a:bodyPr>
          <a:lstStyle/>
          <a:p>
            <a:pPr marL="0" indent="0" algn="l">
              <a:lnSpc>
                <a:spcPts val="2560"/>
              </a:lnSpc>
              <a:buNone/>
            </a:pPr>
            <a:r>
              <a:rPr lang="en-US" sz="1600" b="1" dirty="0">
                <a:solidFill>
                  <a:srgbClr val="1F5FAD"/>
                </a:solidFill>
                <a:latin typeface="Arial" pitchFamily="34" charset="0"/>
                <a:ea typeface="Arial" pitchFamily="34" charset="-122"/>
                <a:cs typeface="Arial" pitchFamily="34" charset="-120"/>
              </a:rPr>
              <a:t>Работа посвящена построению нейросетевой модели температурного поля в стержне по неполным данным измерений.</a:t>
            </a:r>
            <a:r>
              <a:rPr lang="en-US" sz="1600" dirty="0">
                <a:solidFill>
                  <a:srgbClr val="1A1A1A"/>
                </a:solidFill>
                <a:latin typeface="Arial" pitchFamily="34" charset="0"/>
                <a:ea typeface="Arial" pitchFamily="34" charset="-122"/>
                <a:cs typeface="Arial" pitchFamily="34" charset="-120"/>
              </a:rPr>
              <a:t> </a:t>
            </a:r>
            <a:r>
              <a:rPr lang="en-US" sz="1600" b="1" dirty="0">
                <a:solidFill>
                  <a:srgbClr val="2E7D32"/>
                </a:solidFill>
                <a:latin typeface="Arial" pitchFamily="34" charset="0"/>
                <a:ea typeface="Arial" pitchFamily="34" charset="-122"/>
                <a:cs typeface="Arial" pitchFamily="34" charset="-120"/>
              </a:rPr>
              <a:t>Используется многослойная сеть, обучаемая на функции потерь, которая включает уравнение теплопроводности и показания датчиков.</a:t>
            </a:r>
            <a:r>
              <a:rPr lang="en-US" sz="1600" dirty="0">
                <a:solidFill>
                  <a:srgbClr val="1A1A1A"/>
                </a:solidFill>
                <a:latin typeface="Arial" pitchFamily="34" charset="0"/>
                <a:ea typeface="Arial" pitchFamily="34" charset="-122"/>
                <a:cs typeface="Arial" pitchFamily="34" charset="-120"/>
              </a:rPr>
              <a:t> </a:t>
            </a:r>
            <a:r>
              <a:rPr lang="en-US" sz="1600" b="1" dirty="0">
                <a:solidFill>
                  <a:srgbClr val="C2571A"/>
                </a:solidFill>
                <a:latin typeface="Arial" pitchFamily="34" charset="0"/>
                <a:ea typeface="Arial" pitchFamily="34" charset="-122"/>
                <a:cs typeface="Arial" pitchFamily="34" charset="-120"/>
              </a:rPr>
              <a:t>Модель восстанавливает поле температуры с точностью, сопоставимой с конечно-разностным решением.</a:t>
            </a:r>
            <a:r>
              <a:rPr lang="en-US" sz="1600" dirty="0">
                <a:solidFill>
                  <a:srgbClr val="1A1A1A"/>
                </a:solidFill>
                <a:latin typeface="Arial" pitchFamily="34" charset="0"/>
                <a:ea typeface="Arial" pitchFamily="34" charset="-122"/>
                <a:cs typeface="Arial" pitchFamily="34" charset="-120"/>
              </a:rPr>
              <a:t> </a:t>
            </a:r>
            <a:r>
              <a:rPr lang="en-US" sz="1600" b="1" dirty="0">
                <a:solidFill>
                  <a:srgbClr val="7B3FA0"/>
                </a:solidFill>
                <a:latin typeface="Arial" pitchFamily="34" charset="0"/>
                <a:ea typeface="Arial" pitchFamily="34" charset="-122"/>
                <a:cs typeface="Arial" pitchFamily="34" charset="-120"/>
              </a:rPr>
              <a:t>Подход позволяет уточнять модель по мере поступления новых измерений.</a:t>
            </a:r>
            <a:endParaRPr lang="en-US" sz="1600" dirty="0"/>
          </a:p>
        </p:txBody>
      </p:sp>
      <p:sp>
        <p:nvSpPr>
          <p:cNvPr id="7" name="Shape 4"/>
          <p:cNvSpPr/>
          <p:nvPr/>
        </p:nvSpPr>
        <p:spPr>
          <a:xfrm>
            <a:off x="7569200" y="1393191"/>
            <a:ext cx="228600" cy="228600"/>
          </a:xfrm>
          <a:prstGeom prst="rect">
            <a:avLst/>
          </a:prstGeom>
          <a:solidFill>
            <a:srgbClr val="1F5FAD"/>
          </a:solidFill>
          <a:ln/>
        </p:spPr>
      </p:sp>
      <p:sp>
        <p:nvSpPr>
          <p:cNvPr id="8" name="Text 5"/>
          <p:cNvSpPr/>
          <p:nvPr/>
        </p:nvSpPr>
        <p:spPr>
          <a:xfrm>
            <a:off x="7924800" y="1393191"/>
            <a:ext cx="35580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5FAD"/>
                </a:solidFill>
                <a:latin typeface="Arial" pitchFamily="34" charset="0"/>
                <a:ea typeface="Arial" pitchFamily="34" charset="-122"/>
                <a:cs typeface="Arial" pitchFamily="34" charset="-120"/>
              </a:rPr>
              <a:t>Цель</a:t>
            </a:r>
            <a:endParaRPr lang="en-US" sz="1700" dirty="0"/>
          </a:p>
        </p:txBody>
      </p:sp>
      <p:sp>
        <p:nvSpPr>
          <p:cNvPr id="9" name="Text 6"/>
          <p:cNvSpPr/>
          <p:nvPr/>
        </p:nvSpPr>
        <p:spPr>
          <a:xfrm>
            <a:off x="7924800" y="1677670"/>
            <a:ext cx="35580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зачем проводилась работа</a:t>
            </a:r>
            <a:endParaRPr lang="en-US" sz="1400" dirty="0"/>
          </a:p>
        </p:txBody>
      </p:sp>
      <p:sp>
        <p:nvSpPr>
          <p:cNvPr id="10" name="Shape 7"/>
          <p:cNvSpPr/>
          <p:nvPr/>
        </p:nvSpPr>
        <p:spPr>
          <a:xfrm>
            <a:off x="7569200" y="2129791"/>
            <a:ext cx="228600" cy="228600"/>
          </a:xfrm>
          <a:prstGeom prst="rect">
            <a:avLst/>
          </a:prstGeom>
          <a:solidFill>
            <a:srgbClr val="2E7D32"/>
          </a:solidFill>
          <a:ln/>
        </p:spPr>
      </p:sp>
      <p:sp>
        <p:nvSpPr>
          <p:cNvPr id="11" name="Text 8"/>
          <p:cNvSpPr/>
          <p:nvPr/>
        </p:nvSpPr>
        <p:spPr>
          <a:xfrm>
            <a:off x="7924800" y="2129791"/>
            <a:ext cx="35580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E7D32"/>
                </a:solidFill>
                <a:latin typeface="Arial" pitchFamily="34" charset="0"/>
                <a:ea typeface="Arial" pitchFamily="34" charset="-122"/>
                <a:cs typeface="Arial" pitchFamily="34" charset="-120"/>
              </a:rPr>
              <a:t>Методы</a:t>
            </a:r>
            <a:endParaRPr lang="en-US" sz="1700" dirty="0"/>
          </a:p>
        </p:txBody>
      </p:sp>
      <p:sp>
        <p:nvSpPr>
          <p:cNvPr id="12" name="Text 9"/>
          <p:cNvSpPr/>
          <p:nvPr/>
        </p:nvSpPr>
        <p:spPr>
          <a:xfrm>
            <a:off x="7924800" y="2414270"/>
            <a:ext cx="35580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как и с помощью чего</a:t>
            </a:r>
            <a:endParaRPr lang="en-US" sz="1400" dirty="0"/>
          </a:p>
        </p:txBody>
      </p:sp>
      <p:sp>
        <p:nvSpPr>
          <p:cNvPr id="13" name="Shape 10"/>
          <p:cNvSpPr/>
          <p:nvPr/>
        </p:nvSpPr>
        <p:spPr>
          <a:xfrm>
            <a:off x="7569200" y="2866391"/>
            <a:ext cx="228600" cy="228600"/>
          </a:xfrm>
          <a:prstGeom prst="rect">
            <a:avLst/>
          </a:prstGeom>
          <a:solidFill>
            <a:srgbClr val="C2571A"/>
          </a:solidFill>
          <a:ln/>
        </p:spPr>
      </p:sp>
      <p:sp>
        <p:nvSpPr>
          <p:cNvPr id="14" name="Text 11"/>
          <p:cNvSpPr/>
          <p:nvPr/>
        </p:nvSpPr>
        <p:spPr>
          <a:xfrm>
            <a:off x="7924800" y="2866391"/>
            <a:ext cx="35580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C2571A"/>
                </a:solidFill>
                <a:latin typeface="Arial" pitchFamily="34" charset="0"/>
                <a:ea typeface="Arial" pitchFamily="34" charset="-122"/>
                <a:cs typeface="Arial" pitchFamily="34" charset="-120"/>
              </a:rPr>
              <a:t>Результаты</a:t>
            </a:r>
            <a:endParaRPr lang="en-US" sz="1700" dirty="0"/>
          </a:p>
        </p:txBody>
      </p:sp>
      <p:sp>
        <p:nvSpPr>
          <p:cNvPr id="15" name="Text 12"/>
          <p:cNvSpPr/>
          <p:nvPr/>
        </p:nvSpPr>
        <p:spPr>
          <a:xfrm>
            <a:off x="7924800" y="3150870"/>
            <a:ext cx="35580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что получено, желательно с цифрами</a:t>
            </a:r>
            <a:endParaRPr lang="en-US" sz="1400" dirty="0"/>
          </a:p>
        </p:txBody>
      </p:sp>
      <p:sp>
        <p:nvSpPr>
          <p:cNvPr id="16" name="Shape 13"/>
          <p:cNvSpPr/>
          <p:nvPr/>
        </p:nvSpPr>
        <p:spPr>
          <a:xfrm>
            <a:off x="7569200" y="3602991"/>
            <a:ext cx="228600" cy="228600"/>
          </a:xfrm>
          <a:prstGeom prst="rect">
            <a:avLst/>
          </a:prstGeom>
          <a:solidFill>
            <a:srgbClr val="7B3FA0"/>
          </a:solidFill>
          <a:ln/>
        </p:spPr>
      </p:sp>
      <p:sp>
        <p:nvSpPr>
          <p:cNvPr id="17" name="Text 14"/>
          <p:cNvSpPr/>
          <p:nvPr/>
        </p:nvSpPr>
        <p:spPr>
          <a:xfrm>
            <a:off x="7924800" y="3602991"/>
            <a:ext cx="355803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7B3FA0"/>
                </a:solidFill>
                <a:latin typeface="Arial" pitchFamily="34" charset="0"/>
                <a:ea typeface="Arial" pitchFamily="34" charset="-122"/>
                <a:cs typeface="Arial" pitchFamily="34" charset="-120"/>
              </a:rPr>
              <a:t>Выводы</a:t>
            </a:r>
            <a:endParaRPr lang="en-US" sz="1700" dirty="0"/>
          </a:p>
        </p:txBody>
      </p:sp>
      <p:sp>
        <p:nvSpPr>
          <p:cNvPr id="18" name="Text 15"/>
          <p:cNvSpPr/>
          <p:nvPr/>
        </p:nvSpPr>
        <p:spPr>
          <a:xfrm>
            <a:off x="7924800" y="3887470"/>
            <a:ext cx="355803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что из этого следует</a:t>
            </a:r>
            <a:endParaRPr lang="en-US" sz="1400" dirty="0"/>
          </a:p>
        </p:txBody>
      </p:sp>
      <p:sp>
        <p:nvSpPr>
          <p:cNvPr id="19" name="Text 16"/>
          <p:cNvSpPr/>
          <p:nvPr/>
        </p:nvSpPr>
        <p:spPr>
          <a:xfrm>
            <a:off x="10769600" y="63398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Подходы к автоматической генерации</a:t>
            </a:r>
            <a:endParaRPr lang="en-US" sz="2800" dirty="0"/>
          </a:p>
        </p:txBody>
      </p:sp>
      <p:pic>
        <p:nvPicPr>
          <p:cNvPr id="3" name="Image 0" descr="line"/>
          <p:cNvPicPr>
            <a:picLocks noChangeAspect="1"/>
          </p:cNvPicPr>
          <p:nvPr/>
        </p:nvPicPr>
        <p:blipFill>
          <a:blip r:embed="rId3"/>
          <a:srcRect/>
          <a:stretch/>
        </p:blipFill>
        <p:spPr>
          <a:xfrm>
            <a:off x="812800" y="1145541"/>
            <a:ext cx="10566400" cy="19050"/>
          </a:xfrm>
          <a:prstGeom prst="rect">
            <a:avLst/>
          </a:prstGeom>
        </p:spPr>
      </p:pic>
      <p:pic>
        <p:nvPicPr>
          <p:cNvPr id="4" name="Image 1" descr="Схема: из исходной статьи экстрактивный метод копирует выбранные предложения, абстрактивный пишет новый текст"/>
          <p:cNvPicPr>
            <a:picLocks noChangeAspect="1"/>
          </p:cNvPicPr>
          <p:nvPr/>
        </p:nvPicPr>
        <p:blipFill>
          <a:blip r:embed="rId4"/>
          <a:srcRect t="-5" b="-5"/>
          <a:stretch/>
        </p:blipFill>
        <p:spPr>
          <a:xfrm>
            <a:off x="812800" y="1393191"/>
            <a:ext cx="10566400" cy="3937000"/>
          </a:xfrm>
          <a:prstGeom prst="rect">
            <a:avLst/>
          </a:prstGeom>
        </p:spPr>
      </p:pic>
      <p:sp>
        <p:nvSpPr>
          <p:cNvPr id="5" name="Text 1"/>
          <p:cNvSpPr/>
          <p:nvPr/>
        </p:nvSpPr>
        <p:spPr>
          <a:xfrm>
            <a:off x="10769600" y="63398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Экстрактивные методы: выбрать главные предложения</a:t>
            </a:r>
            <a:endParaRPr lang="en-US" sz="2800" dirty="0"/>
          </a:p>
        </p:txBody>
      </p:sp>
      <p:pic>
        <p:nvPicPr>
          <p:cNvPr id="3" name="Image 0" descr="line"/>
          <p:cNvPicPr>
            <a:picLocks noChangeAspect="1"/>
          </p:cNvPicPr>
          <p:nvPr/>
        </p:nvPicPr>
        <p:blipFill>
          <a:blip r:embed="rId3"/>
          <a:srcRect/>
          <a:stretch/>
        </p:blipFill>
        <p:spPr>
          <a:xfrm>
            <a:off x="812800" y="1145539"/>
            <a:ext cx="10566400" cy="19050"/>
          </a:xfrm>
          <a:prstGeom prst="rect">
            <a:avLst/>
          </a:prstGeom>
        </p:spPr>
      </p:pic>
      <p:sp>
        <p:nvSpPr>
          <p:cNvPr id="4" name="Text 1"/>
          <p:cNvSpPr/>
          <p:nvPr/>
        </p:nvSpPr>
        <p:spPr>
          <a:xfrm>
            <a:off x="759079" y="1502039"/>
            <a:ext cx="7116064" cy="594360"/>
          </a:xfrm>
          <a:prstGeom prst="rect">
            <a:avLst/>
          </a:prstGeom>
          <a:noFill/>
          <a:ln/>
        </p:spPr>
        <p:txBody>
          <a:bodyPr wrap="square" lIns="0" tIns="0" rIns="0" bIns="0" rtlCol="0" anchor="t">
            <a:normAutofit/>
          </a:bodyPr>
          <a:lstStyle/>
          <a:p>
            <a:pPr marL="0" indent="0" algn="l">
              <a:lnSpc>
                <a:spcPts val="2240"/>
              </a:lnSpc>
              <a:buNone/>
            </a:pPr>
            <a:r>
              <a:rPr lang="en-US" b="1" dirty="0">
                <a:solidFill>
                  <a:srgbClr val="1A1A1A"/>
                </a:solidFill>
                <a:latin typeface="Arial" pitchFamily="34" charset="0"/>
                <a:ea typeface="Arial" pitchFamily="34" charset="-122"/>
                <a:cs typeface="Arial" pitchFamily="34" charset="-120"/>
              </a:rPr>
              <a:t>Идея:</a:t>
            </a:r>
            <a:r>
              <a:rPr lang="en-US" dirty="0">
                <a:solidFill>
                  <a:srgbClr val="1A1A1A"/>
                </a:solidFill>
                <a:latin typeface="Arial" pitchFamily="34" charset="0"/>
                <a:ea typeface="Arial" pitchFamily="34" charset="-122"/>
                <a:cs typeface="Arial" pitchFamily="34" charset="-120"/>
              </a:rPr>
              <a:t> ничего не писать заново, а взять из статьи самые важные предложения.</a:t>
            </a:r>
            <a:endParaRPr lang="en-US" dirty="0"/>
          </a:p>
        </p:txBody>
      </p:sp>
      <p:sp>
        <p:nvSpPr>
          <p:cNvPr id="5" name="Text 2"/>
          <p:cNvSpPr/>
          <p:nvPr/>
        </p:nvSpPr>
        <p:spPr>
          <a:xfrm>
            <a:off x="759079" y="2493299"/>
            <a:ext cx="7116064" cy="594360"/>
          </a:xfrm>
          <a:prstGeom prst="rect">
            <a:avLst/>
          </a:prstGeom>
          <a:noFill/>
          <a:ln/>
        </p:spPr>
        <p:txBody>
          <a:bodyPr wrap="square" lIns="0" tIns="0" rIns="0" bIns="0" rtlCol="0" anchor="t">
            <a:normAutofit/>
          </a:bodyPr>
          <a:lstStyle/>
          <a:p>
            <a:pPr marL="0" indent="0" algn="l">
              <a:lnSpc>
                <a:spcPts val="2240"/>
              </a:lnSpc>
              <a:buNone/>
            </a:pPr>
            <a:r>
              <a:rPr lang="en-US" b="1" dirty="0">
                <a:solidFill>
                  <a:srgbClr val="1A1A1A"/>
                </a:solidFill>
                <a:latin typeface="Arial" pitchFamily="34" charset="0"/>
                <a:ea typeface="Arial" pitchFamily="34" charset="-122"/>
                <a:cs typeface="Arial" pitchFamily="34" charset="-120"/>
              </a:rPr>
              <a:t>Какое предложение важное?</a:t>
            </a:r>
            <a:r>
              <a:rPr lang="en-US" dirty="0">
                <a:solidFill>
                  <a:srgbClr val="1A1A1A"/>
                </a:solidFill>
                <a:latin typeface="Arial" pitchFamily="34" charset="0"/>
                <a:ea typeface="Arial" pitchFamily="34" charset="-122"/>
                <a:cs typeface="Arial" pitchFamily="34" charset="-120"/>
              </a:rPr>
              <a:t> То, которое похоже на многие другие: значит, оно про главную тему.</a:t>
            </a:r>
            <a:endParaRPr lang="en-US" dirty="0"/>
          </a:p>
        </p:txBody>
      </p:sp>
      <p:sp>
        <p:nvSpPr>
          <p:cNvPr id="6" name="Text 3"/>
          <p:cNvSpPr/>
          <p:nvPr/>
        </p:nvSpPr>
        <p:spPr>
          <a:xfrm>
            <a:off x="758801" y="3429000"/>
            <a:ext cx="7066296" cy="1092200"/>
          </a:xfrm>
          <a:prstGeom prst="rect">
            <a:avLst/>
          </a:prstGeom>
          <a:noFill/>
          <a:ln/>
        </p:spPr>
        <p:txBody>
          <a:bodyPr wrap="square" lIns="0" tIns="0" rIns="0" bIns="0" rtlCol="0" anchor="t">
            <a:noAutofit/>
          </a:bodyPr>
          <a:lstStyle/>
          <a:p>
            <a:pPr marL="211852" indent="-211852" algn="just">
              <a:lnSpc>
                <a:spcPts val="2100"/>
              </a:lnSpc>
              <a:buSzPct val="100000"/>
              <a:buFontTx/>
              <a:buAutoNum type="arabicPeriod"/>
            </a:pPr>
            <a:r>
              <a:rPr lang="en-US" dirty="0">
                <a:solidFill>
                  <a:srgbClr val="1A1A1A"/>
                </a:solidFill>
                <a:latin typeface="Arial" pitchFamily="34" charset="0"/>
                <a:ea typeface="Arial" pitchFamily="34" charset="-122"/>
                <a:cs typeface="Arial" pitchFamily="34" charset="-120"/>
              </a:rPr>
              <a:t>Текст режется на предложения</a:t>
            </a:r>
            <a:endParaRPr lang="en-US" dirty="0"/>
          </a:p>
          <a:p>
            <a:pPr marL="211852" indent="-211852" algn="just">
              <a:lnSpc>
                <a:spcPts val="2100"/>
              </a:lnSpc>
              <a:buSzPct val="100000"/>
              <a:buFontTx/>
              <a:buAutoNum type="arabicPeriod"/>
            </a:pPr>
            <a:r>
              <a:rPr lang="en-US" dirty="0">
                <a:solidFill>
                  <a:srgbClr val="1A1A1A"/>
                </a:solidFill>
                <a:latin typeface="Arial" pitchFamily="34" charset="0"/>
                <a:ea typeface="Arial" pitchFamily="34" charset="-122"/>
                <a:cs typeface="Arial" pitchFamily="34" charset="-120"/>
              </a:rPr>
              <a:t>Для каждой пары считается похожесть: сколько общих слов</a:t>
            </a:r>
            <a:endParaRPr lang="en-US" dirty="0"/>
          </a:p>
          <a:p>
            <a:pPr marL="211852" indent="-211852" algn="just">
              <a:lnSpc>
                <a:spcPts val="2100"/>
              </a:lnSpc>
              <a:buSzPct val="100000"/>
              <a:buFontTx/>
              <a:buAutoNum type="arabicPeriod"/>
            </a:pPr>
            <a:r>
              <a:rPr lang="en-US" dirty="0">
                <a:solidFill>
                  <a:srgbClr val="1A1A1A"/>
                </a:solidFill>
                <a:latin typeface="Arial" pitchFamily="34" charset="0"/>
                <a:ea typeface="Arial" pitchFamily="34" charset="-122"/>
                <a:cs typeface="Arial" pitchFamily="34" charset="-120"/>
              </a:rPr>
              <a:t>Предложения, похожие на многие другие, получают высокий балл</a:t>
            </a:r>
            <a:endParaRPr lang="en-US" dirty="0"/>
          </a:p>
          <a:p>
            <a:pPr marL="211852" indent="-211852" algn="just">
              <a:lnSpc>
                <a:spcPts val="2100"/>
              </a:lnSpc>
              <a:buSzPct val="100000"/>
              <a:buFontTx/>
              <a:buAutoNum type="arabicPeriod"/>
            </a:pPr>
            <a:r>
              <a:rPr lang="en-US" dirty="0">
                <a:solidFill>
                  <a:srgbClr val="1A1A1A"/>
                </a:solidFill>
                <a:latin typeface="Arial" pitchFamily="34" charset="0"/>
                <a:ea typeface="Arial" pitchFamily="34" charset="-122"/>
                <a:cs typeface="Arial" pitchFamily="34" charset="-120"/>
              </a:rPr>
              <a:t>Несколько лучших идут в аннотацию</a:t>
            </a:r>
            <a:endParaRPr lang="en-US" dirty="0"/>
          </a:p>
        </p:txBody>
      </p:sp>
      <p:sp>
        <p:nvSpPr>
          <p:cNvPr id="8" name="Shape 5"/>
          <p:cNvSpPr/>
          <p:nvPr/>
        </p:nvSpPr>
        <p:spPr>
          <a:xfrm>
            <a:off x="8083550" y="1374139"/>
            <a:ext cx="3289300" cy="3581400"/>
          </a:xfrm>
          <a:prstGeom prst="rect">
            <a:avLst/>
          </a:prstGeom>
          <a:noFill/>
          <a:ln w="12700">
            <a:solidFill>
              <a:srgbClr val="C8C8C8"/>
            </a:solidFill>
            <a:prstDash val="solid"/>
          </a:ln>
        </p:spPr>
      </p:sp>
      <p:pic>
        <p:nvPicPr>
          <p:cNvPr id="9" name="Image 1" descr="Граф предложений, выделены самые центральные"/>
          <p:cNvPicPr>
            <a:picLocks noChangeAspect="1"/>
          </p:cNvPicPr>
          <p:nvPr/>
        </p:nvPicPr>
        <p:blipFill>
          <a:blip r:embed="rId4"/>
          <a:srcRect/>
          <a:stretch/>
        </p:blipFill>
        <p:spPr>
          <a:xfrm>
            <a:off x="8204200" y="1479550"/>
            <a:ext cx="3048000" cy="2667000"/>
          </a:xfrm>
          <a:prstGeom prst="rect">
            <a:avLst/>
          </a:prstGeom>
        </p:spPr>
      </p:pic>
      <p:sp>
        <p:nvSpPr>
          <p:cNvPr id="10" name="Text 6"/>
          <p:cNvSpPr/>
          <p:nvPr/>
        </p:nvSpPr>
        <p:spPr>
          <a:xfrm>
            <a:off x="8204200" y="4210050"/>
            <a:ext cx="3139440" cy="6654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Кружок: предложение. Линия: предложения похожи. S3 связан почти со всеми, он самый важный.</a:t>
            </a:r>
            <a:endParaRPr lang="en-US" sz="1200" dirty="0"/>
          </a:p>
        </p:txBody>
      </p:sp>
      <p:sp>
        <p:nvSpPr>
          <p:cNvPr id="11" name="Text 7"/>
          <p:cNvSpPr/>
          <p:nvPr/>
        </p:nvSpPr>
        <p:spPr>
          <a:xfrm>
            <a:off x="10769600" y="63398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Пример: как выбираются предложения</a:t>
            </a:r>
            <a:endParaRPr lang="en-US" sz="2800" dirty="0"/>
          </a:p>
        </p:txBody>
      </p:sp>
      <p:pic>
        <p:nvPicPr>
          <p:cNvPr id="3" name="Image 0" descr="line"/>
          <p:cNvPicPr>
            <a:picLocks noChangeAspect="1"/>
          </p:cNvPicPr>
          <p:nvPr/>
        </p:nvPicPr>
        <p:blipFill>
          <a:blip r:embed="rId3"/>
          <a:srcRect/>
          <a:stretch/>
        </p:blipFill>
        <p:spPr>
          <a:xfrm>
            <a:off x="812800" y="1145539"/>
            <a:ext cx="10566400" cy="19050"/>
          </a:xfrm>
          <a:prstGeom prst="rect">
            <a:avLst/>
          </a:prstGeom>
        </p:spPr>
      </p:pic>
      <p:sp>
        <p:nvSpPr>
          <p:cNvPr id="4" name="Text 1"/>
          <p:cNvSpPr/>
          <p:nvPr/>
        </p:nvSpPr>
        <p:spPr>
          <a:xfrm>
            <a:off x="7391400" y="1342389"/>
            <a:ext cx="248539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общих слов с остальными</a:t>
            </a:r>
            <a:endParaRPr lang="en-US" sz="1200" dirty="0"/>
          </a:p>
        </p:txBody>
      </p:sp>
      <p:sp>
        <p:nvSpPr>
          <p:cNvPr id="5" name="Shape 2"/>
          <p:cNvSpPr/>
          <p:nvPr/>
        </p:nvSpPr>
        <p:spPr>
          <a:xfrm>
            <a:off x="812800" y="1736725"/>
            <a:ext cx="10566400" cy="0"/>
          </a:xfrm>
          <a:prstGeom prst="line">
            <a:avLst/>
          </a:prstGeom>
          <a:noFill/>
          <a:ln w="6350">
            <a:solidFill>
              <a:srgbClr val="C8C8C8"/>
            </a:solidFill>
            <a:prstDash val="solid"/>
          </a:ln>
        </p:spPr>
      </p:sp>
      <p:sp>
        <p:nvSpPr>
          <p:cNvPr id="6" name="Text 3"/>
          <p:cNvSpPr/>
          <p:nvPr/>
        </p:nvSpPr>
        <p:spPr>
          <a:xfrm>
            <a:off x="812800" y="1827532"/>
            <a:ext cx="431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S1</a:t>
            </a:r>
            <a:endParaRPr lang="en-US" sz="1400" dirty="0"/>
          </a:p>
        </p:txBody>
      </p:sp>
      <p:sp>
        <p:nvSpPr>
          <p:cNvPr id="7" name="Text 4"/>
          <p:cNvSpPr/>
          <p:nvPr/>
        </p:nvSpPr>
        <p:spPr>
          <a:xfrm>
            <a:off x="1371600" y="1831975"/>
            <a:ext cx="5886450"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F5FAD"/>
                </a:solidFill>
                <a:latin typeface="Arial" pitchFamily="34" charset="0"/>
                <a:ea typeface="Arial" pitchFamily="34" charset="-122"/>
                <a:cs typeface="Arial" pitchFamily="34" charset="-120"/>
              </a:rPr>
              <a:t>Нейросеть</a:t>
            </a:r>
            <a:r>
              <a:rPr lang="en-US" sz="1400" dirty="0">
                <a:solidFill>
                  <a:srgbClr val="1A1A1A"/>
                </a:solidFill>
                <a:latin typeface="Arial" pitchFamily="34" charset="0"/>
                <a:ea typeface="Arial" pitchFamily="34" charset="-122"/>
                <a:cs typeface="Arial" pitchFamily="34" charset="-120"/>
              </a:rPr>
              <a:t> учится решать </a:t>
            </a:r>
            <a:r>
              <a:rPr lang="en-US" sz="1400" b="1" dirty="0">
                <a:solidFill>
                  <a:srgbClr val="1F5FAD"/>
                </a:solidFill>
                <a:latin typeface="Arial" pitchFamily="34" charset="0"/>
                <a:ea typeface="Arial" pitchFamily="34" charset="-122"/>
                <a:cs typeface="Arial" pitchFamily="34" charset="-120"/>
              </a:rPr>
              <a:t>уравнение теплопроводности</a:t>
            </a: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8" name="Shape 5"/>
          <p:cNvSpPr/>
          <p:nvPr/>
        </p:nvSpPr>
        <p:spPr>
          <a:xfrm>
            <a:off x="7264400" y="1863089"/>
            <a:ext cx="1524000" cy="177800"/>
          </a:xfrm>
          <a:prstGeom prst="rect">
            <a:avLst/>
          </a:prstGeom>
          <a:solidFill>
            <a:srgbClr val="1F5FAD"/>
          </a:solidFill>
          <a:ln/>
        </p:spPr>
      </p:sp>
      <p:sp>
        <p:nvSpPr>
          <p:cNvPr id="9" name="Text 6"/>
          <p:cNvSpPr/>
          <p:nvPr/>
        </p:nvSpPr>
        <p:spPr>
          <a:xfrm>
            <a:off x="8877300" y="1827532"/>
            <a:ext cx="14970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4</a:t>
            </a:r>
            <a:endParaRPr lang="en-US" sz="1400" dirty="0"/>
          </a:p>
        </p:txBody>
      </p:sp>
      <p:sp>
        <p:nvSpPr>
          <p:cNvPr id="10" name="Text 7"/>
          <p:cNvSpPr/>
          <p:nvPr/>
        </p:nvSpPr>
        <p:spPr>
          <a:xfrm>
            <a:off x="9855200" y="1836421"/>
            <a:ext cx="14478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7D32"/>
                </a:solidFill>
                <a:latin typeface="Arial" pitchFamily="34" charset="0"/>
                <a:ea typeface="Arial" pitchFamily="34" charset="-122"/>
                <a:cs typeface="Arial" pitchFamily="34" charset="-120"/>
              </a:rPr>
              <a:t>в аннотацию</a:t>
            </a:r>
            <a:endParaRPr lang="en-US" sz="1300" dirty="0"/>
          </a:p>
        </p:txBody>
      </p:sp>
      <p:sp>
        <p:nvSpPr>
          <p:cNvPr id="11" name="Shape 8"/>
          <p:cNvSpPr/>
          <p:nvPr/>
        </p:nvSpPr>
        <p:spPr>
          <a:xfrm>
            <a:off x="812800" y="2168525"/>
            <a:ext cx="10566400" cy="0"/>
          </a:xfrm>
          <a:prstGeom prst="line">
            <a:avLst/>
          </a:prstGeom>
          <a:noFill/>
          <a:ln w="6350">
            <a:solidFill>
              <a:srgbClr val="C8C8C8"/>
            </a:solidFill>
            <a:prstDash val="solid"/>
          </a:ln>
        </p:spPr>
      </p:sp>
      <p:sp>
        <p:nvSpPr>
          <p:cNvPr id="12" name="Text 9"/>
          <p:cNvSpPr/>
          <p:nvPr/>
        </p:nvSpPr>
        <p:spPr>
          <a:xfrm>
            <a:off x="812800" y="2259332"/>
            <a:ext cx="431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S2</a:t>
            </a:r>
            <a:endParaRPr lang="en-US" sz="1400" dirty="0"/>
          </a:p>
        </p:txBody>
      </p:sp>
      <p:sp>
        <p:nvSpPr>
          <p:cNvPr id="13" name="Text 10"/>
          <p:cNvSpPr/>
          <p:nvPr/>
        </p:nvSpPr>
        <p:spPr>
          <a:xfrm>
            <a:off x="1371600" y="2263775"/>
            <a:ext cx="5886450" cy="26543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F5FAD"/>
                </a:solidFill>
                <a:latin typeface="Arial" pitchFamily="34" charset="0"/>
                <a:ea typeface="Arial" pitchFamily="34" charset="-122"/>
                <a:cs typeface="Arial" pitchFamily="34" charset="-120"/>
              </a:rPr>
              <a:t>Распределение температуры</a:t>
            </a:r>
            <a:r>
              <a:rPr lang="en-US" sz="1400" dirty="0">
                <a:solidFill>
                  <a:srgbClr val="1A1A1A"/>
                </a:solidFill>
                <a:latin typeface="Arial" pitchFamily="34" charset="0"/>
                <a:ea typeface="Arial" pitchFamily="34" charset="-122"/>
                <a:cs typeface="Arial" pitchFamily="34" charset="-120"/>
              </a:rPr>
              <a:t> в стержне меняется со временем.</a:t>
            </a:r>
            <a:endParaRPr lang="en-US" sz="1400" dirty="0"/>
          </a:p>
        </p:txBody>
      </p:sp>
      <p:sp>
        <p:nvSpPr>
          <p:cNvPr id="14" name="Shape 11"/>
          <p:cNvSpPr/>
          <p:nvPr/>
        </p:nvSpPr>
        <p:spPr>
          <a:xfrm>
            <a:off x="7264400" y="2294889"/>
            <a:ext cx="762000" cy="177800"/>
          </a:xfrm>
          <a:prstGeom prst="rect">
            <a:avLst/>
          </a:prstGeom>
          <a:solidFill>
            <a:srgbClr val="BFBFBF"/>
          </a:solidFill>
          <a:ln/>
        </p:spPr>
      </p:sp>
      <p:sp>
        <p:nvSpPr>
          <p:cNvPr id="15" name="Text 12"/>
          <p:cNvSpPr/>
          <p:nvPr/>
        </p:nvSpPr>
        <p:spPr>
          <a:xfrm>
            <a:off x="8115300" y="2259332"/>
            <a:ext cx="14970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2</a:t>
            </a:r>
            <a:endParaRPr lang="en-US" sz="1400" dirty="0"/>
          </a:p>
        </p:txBody>
      </p:sp>
      <p:sp>
        <p:nvSpPr>
          <p:cNvPr id="16" name="Shape 13"/>
          <p:cNvSpPr/>
          <p:nvPr/>
        </p:nvSpPr>
        <p:spPr>
          <a:xfrm>
            <a:off x="812800" y="2600325"/>
            <a:ext cx="10566400" cy="0"/>
          </a:xfrm>
          <a:prstGeom prst="line">
            <a:avLst/>
          </a:prstGeom>
          <a:noFill/>
          <a:ln w="6350">
            <a:solidFill>
              <a:srgbClr val="C8C8C8"/>
            </a:solidFill>
            <a:prstDash val="solid"/>
          </a:ln>
        </p:spPr>
      </p:sp>
      <p:sp>
        <p:nvSpPr>
          <p:cNvPr id="17" name="Text 14"/>
          <p:cNvSpPr/>
          <p:nvPr/>
        </p:nvSpPr>
        <p:spPr>
          <a:xfrm>
            <a:off x="812800" y="2806700"/>
            <a:ext cx="431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S3</a:t>
            </a:r>
            <a:endParaRPr lang="en-US" sz="1400" dirty="0"/>
          </a:p>
        </p:txBody>
      </p:sp>
      <p:sp>
        <p:nvSpPr>
          <p:cNvPr id="18" name="Text 15"/>
          <p:cNvSpPr/>
          <p:nvPr/>
        </p:nvSpPr>
        <p:spPr>
          <a:xfrm>
            <a:off x="1371600" y="2691132"/>
            <a:ext cx="5886450" cy="50546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F5FAD"/>
                </a:solidFill>
                <a:latin typeface="Arial" pitchFamily="34" charset="0"/>
                <a:ea typeface="Arial" pitchFamily="34" charset="-122"/>
                <a:cs typeface="Arial" pitchFamily="34" charset="-120"/>
              </a:rPr>
              <a:t>Нейросеть</a:t>
            </a:r>
            <a:r>
              <a:rPr lang="en-US" sz="1400" dirty="0">
                <a:solidFill>
                  <a:srgbClr val="1A1A1A"/>
                </a:solidFill>
                <a:latin typeface="Arial" pitchFamily="34" charset="0"/>
                <a:ea typeface="Arial" pitchFamily="34" charset="-122"/>
                <a:cs typeface="Arial" pitchFamily="34" charset="-120"/>
              </a:rPr>
              <a:t> восстанавливает </a:t>
            </a:r>
            <a:r>
              <a:rPr lang="en-US" sz="1400" b="1" dirty="0">
                <a:solidFill>
                  <a:srgbClr val="1F5FAD"/>
                </a:solidFill>
                <a:latin typeface="Arial" pitchFamily="34" charset="0"/>
                <a:ea typeface="Arial" pitchFamily="34" charset="-122"/>
                <a:cs typeface="Arial" pitchFamily="34" charset="-120"/>
              </a:rPr>
              <a:t>распределение температуры</a:t>
            </a:r>
            <a:r>
              <a:rPr lang="en-US" sz="1400" dirty="0">
                <a:solidFill>
                  <a:srgbClr val="1A1A1A"/>
                </a:solidFill>
                <a:latin typeface="Arial" pitchFamily="34" charset="0"/>
                <a:ea typeface="Arial" pitchFamily="34" charset="-122"/>
                <a:cs typeface="Arial" pitchFamily="34" charset="-120"/>
              </a:rPr>
              <a:t>, решая </a:t>
            </a:r>
            <a:r>
              <a:rPr lang="en-US" sz="1400" b="1" dirty="0">
                <a:solidFill>
                  <a:srgbClr val="1F5FAD"/>
                </a:solidFill>
                <a:latin typeface="Arial" pitchFamily="34" charset="0"/>
                <a:ea typeface="Arial" pitchFamily="34" charset="-122"/>
                <a:cs typeface="Arial" pitchFamily="34" charset="-120"/>
              </a:rPr>
              <a:t>уравнение теплопроводности</a:t>
            </a: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19" name="Shape 16"/>
          <p:cNvSpPr/>
          <p:nvPr/>
        </p:nvSpPr>
        <p:spPr>
          <a:xfrm>
            <a:off x="7264400" y="2842261"/>
            <a:ext cx="2286000" cy="177800"/>
          </a:xfrm>
          <a:prstGeom prst="rect">
            <a:avLst/>
          </a:prstGeom>
          <a:solidFill>
            <a:srgbClr val="1F5FAD"/>
          </a:solidFill>
          <a:ln/>
        </p:spPr>
      </p:sp>
      <p:sp>
        <p:nvSpPr>
          <p:cNvPr id="20" name="Text 17"/>
          <p:cNvSpPr/>
          <p:nvPr/>
        </p:nvSpPr>
        <p:spPr>
          <a:xfrm>
            <a:off x="9639300" y="2806700"/>
            <a:ext cx="889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6</a:t>
            </a:r>
            <a:endParaRPr lang="en-US" sz="1400" dirty="0"/>
          </a:p>
        </p:txBody>
      </p:sp>
      <p:sp>
        <p:nvSpPr>
          <p:cNvPr id="21" name="Text 18"/>
          <p:cNvSpPr/>
          <p:nvPr/>
        </p:nvSpPr>
        <p:spPr>
          <a:xfrm>
            <a:off x="9855200" y="2815589"/>
            <a:ext cx="1447800"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E7D32"/>
                </a:solidFill>
                <a:latin typeface="Arial" pitchFamily="34" charset="0"/>
                <a:ea typeface="Arial" pitchFamily="34" charset="-122"/>
                <a:cs typeface="Arial" pitchFamily="34" charset="-120"/>
              </a:rPr>
              <a:t>в аннотацию</a:t>
            </a:r>
            <a:endParaRPr lang="en-US" sz="1300" dirty="0"/>
          </a:p>
        </p:txBody>
      </p:sp>
      <p:sp>
        <p:nvSpPr>
          <p:cNvPr id="22" name="Shape 19"/>
          <p:cNvSpPr/>
          <p:nvPr/>
        </p:nvSpPr>
        <p:spPr>
          <a:xfrm>
            <a:off x="812800" y="3263264"/>
            <a:ext cx="10566400" cy="0"/>
          </a:xfrm>
          <a:prstGeom prst="line">
            <a:avLst/>
          </a:prstGeom>
          <a:noFill/>
          <a:ln w="6350">
            <a:solidFill>
              <a:srgbClr val="C8C8C8"/>
            </a:solidFill>
            <a:prstDash val="solid"/>
          </a:ln>
        </p:spPr>
      </p:sp>
      <p:sp>
        <p:nvSpPr>
          <p:cNvPr id="23" name="Text 20"/>
          <p:cNvSpPr/>
          <p:nvPr/>
        </p:nvSpPr>
        <p:spPr>
          <a:xfrm>
            <a:off x="812800" y="3354071"/>
            <a:ext cx="431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S4</a:t>
            </a:r>
            <a:endParaRPr lang="en-US" sz="1400" dirty="0"/>
          </a:p>
        </p:txBody>
      </p:sp>
      <p:sp>
        <p:nvSpPr>
          <p:cNvPr id="24" name="Text 21"/>
          <p:cNvSpPr/>
          <p:nvPr/>
        </p:nvSpPr>
        <p:spPr>
          <a:xfrm>
            <a:off x="1371600" y="3358514"/>
            <a:ext cx="5886450"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Работа выполнена в 2025 году.</a:t>
            </a:r>
            <a:endParaRPr lang="en-US" sz="1400" dirty="0"/>
          </a:p>
        </p:txBody>
      </p:sp>
      <p:sp>
        <p:nvSpPr>
          <p:cNvPr id="25" name="Shape 22"/>
          <p:cNvSpPr/>
          <p:nvPr/>
        </p:nvSpPr>
        <p:spPr>
          <a:xfrm>
            <a:off x="7264400" y="3389632"/>
            <a:ext cx="25400" cy="177800"/>
          </a:xfrm>
          <a:prstGeom prst="rect">
            <a:avLst/>
          </a:prstGeom>
          <a:solidFill>
            <a:srgbClr val="BFBFBF"/>
          </a:solidFill>
          <a:ln/>
        </p:spPr>
      </p:sp>
      <p:sp>
        <p:nvSpPr>
          <p:cNvPr id="26" name="Text 23"/>
          <p:cNvSpPr/>
          <p:nvPr/>
        </p:nvSpPr>
        <p:spPr>
          <a:xfrm>
            <a:off x="7378700" y="3354071"/>
            <a:ext cx="14970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0</a:t>
            </a:r>
            <a:endParaRPr lang="en-US" sz="1400" dirty="0"/>
          </a:p>
        </p:txBody>
      </p:sp>
      <p:sp>
        <p:nvSpPr>
          <p:cNvPr id="27" name="Shape 24"/>
          <p:cNvSpPr/>
          <p:nvPr/>
        </p:nvSpPr>
        <p:spPr>
          <a:xfrm>
            <a:off x="812800" y="3695064"/>
            <a:ext cx="10566400" cy="0"/>
          </a:xfrm>
          <a:prstGeom prst="line">
            <a:avLst/>
          </a:prstGeom>
          <a:noFill/>
          <a:ln w="6350">
            <a:solidFill>
              <a:srgbClr val="C8C8C8"/>
            </a:solidFill>
            <a:prstDash val="solid"/>
          </a:ln>
        </p:spPr>
      </p:sp>
      <p:sp>
        <p:nvSpPr>
          <p:cNvPr id="28" name="Text 25"/>
          <p:cNvSpPr/>
          <p:nvPr/>
        </p:nvSpPr>
        <p:spPr>
          <a:xfrm>
            <a:off x="812800" y="3785871"/>
            <a:ext cx="431800"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S5</a:t>
            </a:r>
            <a:endParaRPr lang="en-US" sz="1400" dirty="0"/>
          </a:p>
        </p:txBody>
      </p:sp>
      <p:sp>
        <p:nvSpPr>
          <p:cNvPr id="29" name="Text 26"/>
          <p:cNvSpPr/>
          <p:nvPr/>
        </p:nvSpPr>
        <p:spPr>
          <a:xfrm>
            <a:off x="1371600" y="3790314"/>
            <a:ext cx="5886450" cy="26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A1A1A"/>
                </a:solidFill>
                <a:latin typeface="Arial" pitchFamily="34" charset="0"/>
                <a:ea typeface="Arial" pitchFamily="34" charset="-122"/>
                <a:cs typeface="Arial" pitchFamily="34" charset="-120"/>
              </a:rPr>
              <a:t>Точность </a:t>
            </a:r>
            <a:r>
              <a:rPr lang="en-US" sz="1400" b="1" dirty="0">
                <a:solidFill>
                  <a:srgbClr val="1F5FAD"/>
                </a:solidFill>
                <a:latin typeface="Arial" pitchFamily="34" charset="0"/>
                <a:ea typeface="Arial" pitchFamily="34" charset="-122"/>
                <a:cs typeface="Arial" pitchFamily="34" charset="-120"/>
              </a:rPr>
              <a:t>нейросети</a:t>
            </a:r>
            <a:r>
              <a:rPr lang="en-US" sz="1400" dirty="0">
                <a:solidFill>
                  <a:srgbClr val="1A1A1A"/>
                </a:solidFill>
                <a:latin typeface="Arial" pitchFamily="34" charset="0"/>
                <a:ea typeface="Arial" pitchFamily="34" charset="-122"/>
                <a:cs typeface="Arial" pitchFamily="34" charset="-120"/>
              </a:rPr>
              <a:t> сопоставима с методом конечных разностей.</a:t>
            </a:r>
            <a:endParaRPr lang="en-US" sz="1400" dirty="0"/>
          </a:p>
        </p:txBody>
      </p:sp>
      <p:sp>
        <p:nvSpPr>
          <p:cNvPr id="30" name="Shape 27"/>
          <p:cNvSpPr/>
          <p:nvPr/>
        </p:nvSpPr>
        <p:spPr>
          <a:xfrm>
            <a:off x="7264400" y="3821432"/>
            <a:ext cx="762000" cy="177800"/>
          </a:xfrm>
          <a:prstGeom prst="rect">
            <a:avLst/>
          </a:prstGeom>
          <a:solidFill>
            <a:srgbClr val="BFBFBF"/>
          </a:solidFill>
          <a:ln/>
        </p:spPr>
      </p:sp>
      <p:sp>
        <p:nvSpPr>
          <p:cNvPr id="31" name="Text 28"/>
          <p:cNvSpPr/>
          <p:nvPr/>
        </p:nvSpPr>
        <p:spPr>
          <a:xfrm>
            <a:off x="8115300" y="3785871"/>
            <a:ext cx="149701"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A1A1A"/>
                </a:solidFill>
                <a:latin typeface="Arial" pitchFamily="34" charset="0"/>
                <a:ea typeface="Arial" pitchFamily="34" charset="-122"/>
                <a:cs typeface="Arial" pitchFamily="34" charset="-120"/>
              </a:rPr>
              <a:t>2</a:t>
            </a:r>
            <a:endParaRPr lang="en-US" sz="1400" dirty="0"/>
          </a:p>
        </p:txBody>
      </p:sp>
      <p:sp>
        <p:nvSpPr>
          <p:cNvPr id="32" name="Text 29"/>
          <p:cNvSpPr/>
          <p:nvPr/>
        </p:nvSpPr>
        <p:spPr>
          <a:xfrm>
            <a:off x="812800" y="430148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A1A1A"/>
                </a:solidFill>
                <a:latin typeface="Arial" pitchFamily="34" charset="0"/>
                <a:ea typeface="Arial" pitchFamily="34" charset="-122"/>
                <a:cs typeface="Arial" pitchFamily="34" charset="-120"/>
              </a:rPr>
              <a:t>Итог:</a:t>
            </a:r>
            <a:r>
              <a:rPr lang="en-US" sz="1500" dirty="0">
                <a:solidFill>
                  <a:srgbClr val="1A1A1A"/>
                </a:solidFill>
                <a:latin typeface="Arial" pitchFamily="34" charset="0"/>
                <a:ea typeface="Arial" pitchFamily="34" charset="-122"/>
                <a:cs typeface="Arial" pitchFamily="34" charset="-120"/>
              </a:rPr>
              <a:t> аннотация = S3 + S1. Предложение S4 ни с чем не связано и отбрасывается.</a:t>
            </a:r>
            <a:endParaRPr lang="en-US" sz="1500" dirty="0"/>
          </a:p>
        </p:txBody>
      </p:sp>
      <p:sp>
        <p:nvSpPr>
          <p:cNvPr id="33" name="Text 30"/>
          <p:cNvSpPr/>
          <p:nvPr/>
        </p:nvSpPr>
        <p:spPr>
          <a:xfrm>
            <a:off x="10769600" y="63398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388699"/>
          </a:xfrm>
          <a:prstGeom prst="rect">
            <a:avLst/>
          </a:prstGeom>
          <a:noFill/>
          <a:ln/>
        </p:spPr>
        <p:txBody>
          <a:bodyPr wrap="square" lIns="0" tIns="0" rIns="0" bIns="0" rtlCol="0" anchor="t">
            <a:normAutofit/>
          </a:bodyPr>
          <a:lstStyle/>
          <a:p>
            <a:pPr marL="0" indent="0" algn="l">
              <a:lnSpc>
                <a:spcPts val="2868"/>
              </a:lnSpc>
              <a:buNone/>
            </a:pPr>
            <a:r>
              <a:rPr lang="en-US" sz="2494" b="1" i="0" dirty="0">
                <a:solidFill>
                  <a:srgbClr val="1F3A68"/>
                </a:solidFill>
                <a:latin typeface="Arial" pitchFamily="34" charset="0"/>
                <a:ea typeface="Arial" pitchFamily="34" charset="-122"/>
                <a:cs typeface="Arial" pitchFamily="34" charset="-120"/>
              </a:rPr>
              <a:t>Абстрактивные методы: написать текст заново</a:t>
            </a:r>
            <a:endParaRPr lang="en-US" sz="2494" dirty="0"/>
          </a:p>
        </p:txBody>
      </p:sp>
      <p:pic>
        <p:nvPicPr>
          <p:cNvPr id="3" name="Image 0" descr="line"/>
          <p:cNvPicPr>
            <a:picLocks noChangeAspect="1"/>
          </p:cNvPicPr>
          <p:nvPr/>
        </p:nvPicPr>
        <p:blipFill>
          <a:blip r:embed="rId3"/>
          <a:srcRect/>
          <a:stretch/>
        </p:blipFill>
        <p:spPr>
          <a:xfrm>
            <a:off x="812800" y="1099899"/>
            <a:ext cx="10566400" cy="19050"/>
          </a:xfrm>
          <a:prstGeom prst="rect">
            <a:avLst/>
          </a:prstGeom>
        </p:spPr>
      </p:pic>
      <p:pic>
        <p:nvPicPr>
          <p:cNvPr id="4" name="Image 1" descr="Схема seq2seq: текст статьи, энкодер, представление, декодер, аннотация"/>
          <p:cNvPicPr>
            <a:picLocks noChangeAspect="1"/>
          </p:cNvPicPr>
          <p:nvPr/>
        </p:nvPicPr>
        <p:blipFill>
          <a:blip r:embed="rId4"/>
          <a:srcRect l="-4595" r="-4595"/>
          <a:stretch/>
        </p:blipFill>
        <p:spPr>
          <a:xfrm>
            <a:off x="812800" y="1258649"/>
            <a:ext cx="10566400" cy="874157"/>
          </a:xfrm>
          <a:prstGeom prst="rect">
            <a:avLst/>
          </a:prstGeom>
        </p:spPr>
      </p:pic>
      <p:sp>
        <p:nvSpPr>
          <p:cNvPr id="5" name="Text 1"/>
          <p:cNvSpPr/>
          <p:nvPr/>
        </p:nvSpPr>
        <p:spPr>
          <a:xfrm>
            <a:off x="812800" y="2272506"/>
            <a:ext cx="10883392" cy="482283"/>
          </a:xfrm>
          <a:prstGeom prst="rect">
            <a:avLst/>
          </a:prstGeom>
          <a:noFill/>
          <a:ln/>
        </p:spPr>
        <p:txBody>
          <a:bodyPr wrap="square" lIns="0" tIns="0" rIns="0" bIns="0" rtlCol="0" anchor="t">
            <a:normAutofit/>
          </a:bodyPr>
          <a:lstStyle/>
          <a:p>
            <a:pPr marL="0" indent="0" algn="l">
              <a:lnSpc>
                <a:spcPts val="1807"/>
              </a:lnSpc>
              <a:buNone/>
            </a:pPr>
            <a:r>
              <a:rPr lang="en-US" sz="1291" b="1" dirty="0">
                <a:solidFill>
                  <a:srgbClr val="1A1A1A"/>
                </a:solidFill>
                <a:latin typeface="Arial" pitchFamily="34" charset="0"/>
                <a:ea typeface="Arial" pitchFamily="34" charset="-122"/>
                <a:cs typeface="Arial" pitchFamily="34" charset="-120"/>
              </a:rPr>
              <a:t>Энкодер</a:t>
            </a:r>
            <a:r>
              <a:rPr lang="en-US" sz="1291" dirty="0">
                <a:solidFill>
                  <a:srgbClr val="1A1A1A"/>
                </a:solidFill>
                <a:latin typeface="Arial" pitchFamily="34" charset="0"/>
                <a:ea typeface="Arial" pitchFamily="34" charset="-122"/>
                <a:cs typeface="Arial" pitchFamily="34" charset="-120"/>
              </a:rPr>
              <a:t> читает статью и сжимает её смысл в набор чисел, </a:t>
            </a:r>
            <a:r>
              <a:rPr lang="en-US" sz="1291" b="1" dirty="0">
                <a:solidFill>
                  <a:srgbClr val="1A1A1A"/>
                </a:solidFill>
                <a:latin typeface="Arial" pitchFamily="34" charset="0"/>
                <a:ea typeface="Arial" pitchFamily="34" charset="-122"/>
                <a:cs typeface="Arial" pitchFamily="34" charset="-120"/>
              </a:rPr>
              <a:t>декодер</a:t>
            </a:r>
            <a:r>
              <a:rPr lang="en-US" sz="1291" dirty="0">
                <a:solidFill>
                  <a:srgbClr val="1A1A1A"/>
                </a:solidFill>
                <a:latin typeface="Arial" pitchFamily="34" charset="0"/>
                <a:ea typeface="Arial" pitchFamily="34" charset="-122"/>
                <a:cs typeface="Arial" pitchFamily="34" charset="-120"/>
              </a:rPr>
              <a:t> по этим числам пишет новый текст. Такие модели называют seq2seq: «последовательность в последовательность».</a:t>
            </a:r>
            <a:endParaRPr lang="en-US" sz="1291"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879250"/>
          <a:ext cx="10556240" cy="2737883"/>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381794">
                <a:tc>
                  <a:txBody>
                    <a:bodyPr/>
                    <a:lstStyle/>
                    <a:p>
                      <a:pPr marL="0" indent="0">
                        <a:lnSpc>
                          <a:spcPts val="1825"/>
                        </a:lnSpc>
                        <a:buNone/>
                      </a:pPr>
                      <a:r>
                        <a:rPr lang="en-US" sz="1304" b="1" dirty="0">
                          <a:solidFill>
                            <a:srgbClr val="1A1A1A"/>
                          </a:solidFill>
                          <a:latin typeface="Arial" pitchFamily="34" charset="0"/>
                          <a:ea typeface="Arial" pitchFamily="34" charset="-122"/>
                          <a:cs typeface="Arial" pitchFamily="34" charset="-120"/>
                        </a:rPr>
                        <a:t>Модель</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5"/>
                        </a:lnSpc>
                        <a:buNone/>
                      </a:pPr>
                      <a:r>
                        <a:rPr lang="en-US" sz="1304" b="1" dirty="0">
                          <a:solidFill>
                            <a:srgbClr val="1A1A1A"/>
                          </a:solidFill>
                          <a:latin typeface="Arial" pitchFamily="34" charset="0"/>
                          <a:ea typeface="Arial" pitchFamily="34" charset="-122"/>
                          <a:cs typeface="Arial" pitchFamily="34" charset="-120"/>
                        </a:rPr>
                        <a:t>Тип</a:t>
                      </a:r>
                      <a:endParaRPr lang="en-US" sz="1304" dirty="0">
                        <a:latin typeface="Arial" charset="0"/>
                        <a:ea typeface="Arial" charset="0"/>
                        <a:cs typeface="Arial" charset="0"/>
                      </a:endParaRPr>
                    </a:p>
                  </a:txBody>
                  <a:tcPr marL="114300" marR="1143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5"/>
                        </a:lnSpc>
                        <a:buNone/>
                      </a:pPr>
                      <a:r>
                        <a:rPr lang="en-US" sz="1304" b="1" dirty="0">
                          <a:solidFill>
                            <a:srgbClr val="1A1A1A"/>
                          </a:solidFill>
                          <a:latin typeface="Arial" pitchFamily="34" charset="0"/>
                          <a:ea typeface="Arial" pitchFamily="34" charset="-122"/>
                          <a:cs typeface="Arial" pitchFamily="34" charset="-120"/>
                        </a:rPr>
                        <a:t>Русский язык</a:t>
                      </a:r>
                      <a:endParaRPr lang="en-US" sz="1304" dirty="0">
                        <a:latin typeface="Arial" charset="0"/>
                        <a:ea typeface="Arial" charset="0"/>
                        <a:cs typeface="Arial" charset="0"/>
                      </a:endParaRPr>
                    </a:p>
                  </a:txBody>
                  <a:tcPr marL="114300" marR="1143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5"/>
                        </a:lnSpc>
                        <a:buNone/>
                      </a:pPr>
                      <a:r>
                        <a:rPr lang="en-US" sz="1304" b="1" dirty="0">
                          <a:solidFill>
                            <a:srgbClr val="1A1A1A"/>
                          </a:solidFill>
                          <a:latin typeface="Arial" pitchFamily="34" charset="0"/>
                          <a:ea typeface="Arial" pitchFamily="34" charset="-122"/>
                          <a:cs typeface="Arial" pitchFamily="34" charset="-120"/>
                        </a:rPr>
                        <a:t>Доступ</a:t>
                      </a:r>
                      <a:endParaRPr lang="en-US" sz="1304" dirty="0">
                        <a:latin typeface="Arial" charset="0"/>
                        <a:ea typeface="Arial" charset="0"/>
                        <a:cs typeface="Arial" charset="0"/>
                      </a:endParaRPr>
                    </a:p>
                  </a:txBody>
                  <a:tcPr marL="114300" marR="114300" marT="63500" marB="635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605314">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BART, PEGASUS</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seq2seq</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нет (англ.)</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открытые, до 1 млрд параметров</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605314">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ruT5, FRED-T5</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seq2seq</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да</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открытые, до 2 млрд параметров</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381794">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GPT, Claude</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LLM</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да</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закрытые, только API</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381794">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GigaChat, YandexGPT</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LLM</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да</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в основном через API</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381873">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Llama, Qwen</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LLM</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да</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5"/>
                        </a:lnSpc>
                        <a:buNone/>
                      </a:pPr>
                      <a:r>
                        <a:rPr lang="en-US" sz="1304" dirty="0">
                          <a:solidFill>
                            <a:srgbClr val="1A1A1A"/>
                          </a:solidFill>
                          <a:latin typeface="Arial" pitchFamily="34" charset="0"/>
                          <a:ea typeface="Arial" pitchFamily="34" charset="-122"/>
                          <a:cs typeface="Arial" pitchFamily="34" charset="-120"/>
                        </a:rPr>
                        <a:t>открытые, нужен мощный GPU</a:t>
                      </a:r>
                      <a:endParaRPr lang="en-US" sz="1304" dirty="0">
                        <a:latin typeface="Arial" charset="0"/>
                        <a:ea typeface="Arial" charset="0"/>
                        <a:cs typeface="Arial" charset="0"/>
                      </a:endParaRPr>
                    </a:p>
                  </a:txBody>
                  <a:tcPr marL="114300" marR="114300" marT="63500" marB="635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3"/>
          <p:cNvSpPr/>
          <p:nvPr/>
        </p:nvSpPr>
        <p:spPr>
          <a:xfrm>
            <a:off x="10769600" y="63398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Сравнение подходов</a:t>
            </a:r>
            <a:endParaRPr lang="en-US" sz="2800" dirty="0"/>
          </a:p>
        </p:txBody>
      </p:sp>
      <p:pic>
        <p:nvPicPr>
          <p:cNvPr id="3" name="Image 0" descr="line"/>
          <p:cNvPicPr>
            <a:picLocks noChangeAspect="1"/>
          </p:cNvPicPr>
          <p:nvPr/>
        </p:nvPicPr>
        <p:blipFill>
          <a:blip r:embed="rId3"/>
          <a:srcRect/>
          <a:stretch/>
        </p:blipFill>
        <p:spPr>
          <a:xfrm>
            <a:off x="812800" y="1145539"/>
            <a:ext cx="10566400" cy="1905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403349"/>
          <a:ext cx="10556240" cy="3642360"/>
        </p:xfrm>
        <a:graphic>
          <a:graphicData uri="http://schemas.openxmlformats.org/drawingml/2006/table">
            <a:tbl>
              <a:tblPr/>
              <a:tblGrid>
                <a:gridCol w="2639060">
                  <a:extLst>
                    <a:ext uri="{9D8B030D-6E8A-4147-A177-3AD203B41FA5}">
                      <a16:colId xmlns:a16="http://schemas.microsoft.com/office/drawing/2014/main" val="20000"/>
                    </a:ext>
                  </a:extLst>
                </a:gridCol>
                <a:gridCol w="2639060">
                  <a:extLst>
                    <a:ext uri="{9D8B030D-6E8A-4147-A177-3AD203B41FA5}">
                      <a16:colId xmlns:a16="http://schemas.microsoft.com/office/drawing/2014/main" val="20001"/>
                    </a:ext>
                  </a:extLst>
                </a:gridCol>
                <a:gridCol w="2639060">
                  <a:extLst>
                    <a:ext uri="{9D8B030D-6E8A-4147-A177-3AD203B41FA5}">
                      <a16:colId xmlns:a16="http://schemas.microsoft.com/office/drawing/2014/main" val="20002"/>
                    </a:ext>
                  </a:extLst>
                </a:gridCol>
                <a:gridCol w="2639060">
                  <a:extLst>
                    <a:ext uri="{9D8B030D-6E8A-4147-A177-3AD203B41FA5}">
                      <a16:colId xmlns:a16="http://schemas.microsoft.com/office/drawing/2014/main" val="20003"/>
                    </a:ext>
                  </a:extLst>
                </a:gridCol>
              </a:tblGrid>
              <a:tr h="778510">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Критерий</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Экстрактивный (TextRank)</a:t>
                      </a:r>
                      <a:endParaRPr lang="en-US" sz="1500" dirty="0">
                        <a:latin typeface="Arial" charset="0"/>
                        <a:ea typeface="Arial" charset="0"/>
                        <a:cs typeface="Arial" charset="0"/>
                      </a:endParaRPr>
                    </a:p>
                  </a:txBody>
                  <a:tcPr marL="139700" marR="139700" marT="127000" marB="1270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Seq2seq (BART, ruT5)</a:t>
                      </a:r>
                      <a:endParaRPr lang="en-US" sz="1500" dirty="0">
                        <a:latin typeface="Arial" charset="0"/>
                        <a:ea typeface="Arial" charset="0"/>
                        <a:cs typeface="Arial" charset="0"/>
                      </a:endParaRPr>
                    </a:p>
                  </a:txBody>
                  <a:tcPr marL="139700" marR="139700" marT="127000" marB="1270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LLM (GPT, GigaChat)</a:t>
                      </a:r>
                      <a:endParaRPr lang="en-US" sz="1500" dirty="0">
                        <a:latin typeface="Arial" charset="0"/>
                        <a:ea typeface="Arial" charset="0"/>
                        <a:cs typeface="Arial" charset="0"/>
                      </a:endParaRPr>
                    </a:p>
                  </a:txBody>
                  <a:tcPr marL="139700" marR="139700" marT="127000" marB="1270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521335">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Читается связно</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нет</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521335">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Может выдумать факты</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нет</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521335">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Нужно дообучать</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нет</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нет</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521335">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Длинные тексты</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без ограничений</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только короткие</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длинные, с лимитом</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r h="77851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Что нужно для запуска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обычный компьютер</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видеокарта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API или мощная видеокарта</a:t>
                      </a:r>
                      <a:endParaRPr lang="en-US" sz="1500" dirty="0">
                        <a:latin typeface="Arial" charset="0"/>
                        <a:ea typeface="Arial" charset="0"/>
                        <a:cs typeface="Arial" charset="0"/>
                      </a:endParaRPr>
                    </a:p>
                  </a:txBody>
                  <a:tcPr marL="139700" marR="139700" marT="127000" marB="1270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2"/>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Генерация аннотаций с помощью LLM</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sp>
        <p:nvSpPr>
          <p:cNvPr id="4" name="Text 1"/>
          <p:cNvSpPr/>
          <p:nvPr/>
        </p:nvSpPr>
        <p:spPr>
          <a:xfrm>
            <a:off x="819150" y="1399542"/>
            <a:ext cx="5448300" cy="3757295"/>
          </a:xfrm>
          <a:prstGeom prst="rect">
            <a:avLst/>
          </a:prstGeom>
          <a:solidFill>
            <a:srgbClr val="FAFAFA"/>
          </a:solidFill>
          <a:ln w="12700">
            <a:solidFill>
              <a:srgbClr val="C8C8C8"/>
            </a:solidFill>
            <a:prstDash val="solid"/>
          </a:ln>
        </p:spPr>
        <p:txBody>
          <a:bodyPr wrap="square" lIns="257810" tIns="207010" rIns="109830" bIns="181610" rtlCol="0" anchor="t">
            <a:normAutofit/>
          </a:bodyPr>
          <a:lstStyle/>
          <a:p>
            <a:pPr marL="0" indent="0" algn="l">
              <a:lnSpc>
                <a:spcPts val="2025"/>
              </a:lnSpc>
              <a:buNone/>
            </a:pPr>
            <a:r>
              <a:rPr lang="en-US" sz="1350" dirty="0">
                <a:solidFill>
                  <a:srgbClr val="1A1A1A"/>
                </a:solidFill>
                <a:latin typeface="Courier New" pitchFamily="49" charset="0"/>
                <a:ea typeface="Courier New" pitchFamily="49" charset="-122"/>
                <a:cs typeface="Courier New" pitchFamily="49" charset="-120"/>
              </a:rPr>
              <a:t>Ты редактор научного журнала.</a:t>
            </a:r>
            <a:endParaRPr lang="en-US" sz="1350" dirty="0"/>
          </a:p>
          <a:p>
            <a:pPr marL="0" indent="0" algn="l">
              <a:lnSpc>
                <a:spcPts val="2025"/>
              </a:lnSpc>
              <a:buNone/>
            </a:pPr>
            <a:r>
              <a:rPr lang="en-US" sz="1350" dirty="0">
                <a:solidFill>
                  <a:srgbClr val="1A1A1A"/>
                </a:solidFill>
                <a:latin typeface="Courier New" pitchFamily="49" charset="0"/>
                <a:ea typeface="Courier New" pitchFamily="49" charset="-122"/>
                <a:cs typeface="Courier New" pitchFamily="49" charset="-120"/>
              </a:rPr>
              <a:t>Напиши аннотацию к статье ниже.</a:t>
            </a:r>
            <a:endParaRPr lang="en-US" sz="1350" dirty="0"/>
          </a:p>
          <a:p>
            <a:pPr marL="0" indent="0" algn="l">
              <a:lnSpc>
                <a:spcPts val="2025"/>
              </a:lnSpc>
              <a:buNone/>
            </a:pPr>
            <a:r>
              <a:rPr lang="en-US" sz="1350" b="1" dirty="0">
                <a:solidFill>
                  <a:srgbClr val="1F5FAD"/>
                </a:solidFill>
                <a:latin typeface="Courier New" pitchFamily="49" charset="0"/>
                <a:ea typeface="Courier New" pitchFamily="49" charset="-122"/>
                <a:cs typeface="Courier New" pitchFamily="49" charset="-120"/>
              </a:rPr>
              <a:t>Структура: цель, методы,</a:t>
            </a:r>
            <a:endParaRPr lang="en-US" sz="1350" dirty="0"/>
          </a:p>
          <a:p>
            <a:pPr marL="0" indent="0" algn="l">
              <a:lnSpc>
                <a:spcPts val="2025"/>
              </a:lnSpc>
              <a:buNone/>
            </a:pPr>
            <a:r>
              <a:rPr lang="en-US" sz="1350" b="1" dirty="0">
                <a:solidFill>
                  <a:srgbClr val="1F5FAD"/>
                </a:solidFill>
                <a:latin typeface="Courier New" pitchFamily="49" charset="0"/>
                <a:ea typeface="Courier New" pitchFamily="49" charset="-122"/>
                <a:cs typeface="Courier New" pitchFamily="49" charset="-120"/>
              </a:rPr>
              <a:t>результаты, выводы.</a:t>
            </a:r>
            <a:endParaRPr lang="en-US" sz="1350" dirty="0"/>
          </a:p>
          <a:p>
            <a:pPr marL="0" indent="0" algn="l">
              <a:lnSpc>
                <a:spcPts val="2025"/>
              </a:lnSpc>
              <a:buNone/>
            </a:pPr>
            <a:r>
              <a:rPr lang="en-US" sz="1350" b="1" dirty="0">
                <a:solidFill>
                  <a:srgbClr val="1F5FAD"/>
                </a:solidFill>
                <a:latin typeface="Courier New" pitchFamily="49" charset="0"/>
                <a:ea typeface="Courier New" pitchFamily="49" charset="-122"/>
                <a:cs typeface="Courier New" pitchFamily="49" charset="-120"/>
              </a:rPr>
              <a:t>150-250 слов, безлично.</a:t>
            </a:r>
            <a:endParaRPr lang="en-US" sz="1350" dirty="0"/>
          </a:p>
          <a:p>
            <a:pPr marL="0" indent="0" algn="l">
              <a:lnSpc>
                <a:spcPts val="2025"/>
              </a:lnSpc>
              <a:buNone/>
            </a:pPr>
            <a:r>
              <a:rPr lang="en-US" sz="1350" b="1" dirty="0">
                <a:solidFill>
                  <a:srgbClr val="C2571A"/>
                </a:solidFill>
                <a:latin typeface="Courier New" pitchFamily="49" charset="0"/>
                <a:ea typeface="Courier New" pitchFamily="49" charset="-122"/>
                <a:cs typeface="Courier New" pitchFamily="49" charset="-120"/>
              </a:rPr>
              <a:t>Цифры бери только из текста.</a:t>
            </a:r>
            <a:endParaRPr lang="en-US" sz="1350" dirty="0"/>
          </a:p>
          <a:p>
            <a:pPr marL="0" indent="0" algn="l">
              <a:lnSpc>
                <a:spcPts val="2025"/>
              </a:lnSpc>
              <a:buNone/>
            </a:pPr>
            <a:r>
              <a:rPr lang="en-US" sz="1350" b="1" dirty="0">
                <a:solidFill>
                  <a:srgbClr val="C2571A"/>
                </a:solidFill>
                <a:latin typeface="Courier New" pitchFamily="49" charset="0"/>
                <a:ea typeface="Courier New" pitchFamily="49" charset="-122"/>
                <a:cs typeface="Courier New" pitchFamily="49" charset="-120"/>
              </a:rPr>
              <a:t>Чего нет в тексте, не пиши.</a:t>
            </a:r>
            <a:endParaRPr lang="en-US" sz="1350" dirty="0"/>
          </a:p>
          <a:p>
            <a:pPr marL="0" indent="0" algn="l">
              <a:lnSpc>
                <a:spcPts val="2025"/>
              </a:lnSpc>
              <a:buNone/>
            </a:pPr>
            <a:endParaRPr lang="en-US" sz="1350" dirty="0"/>
          </a:p>
          <a:p>
            <a:pPr marL="0" indent="0" algn="l">
              <a:lnSpc>
                <a:spcPts val="2025"/>
              </a:lnSpc>
              <a:buNone/>
            </a:pPr>
            <a:r>
              <a:rPr lang="en-US" sz="1350" b="1" dirty="0">
                <a:solidFill>
                  <a:srgbClr val="2E7D32"/>
                </a:solidFill>
                <a:latin typeface="Courier New" pitchFamily="49" charset="0"/>
                <a:ea typeface="Courier New" pitchFamily="49" charset="-122"/>
                <a:cs typeface="Courier New" pitchFamily="49" charset="-120"/>
              </a:rPr>
              <a:t>Пример аннотации:</a:t>
            </a:r>
            <a:endParaRPr lang="en-US" sz="1350" dirty="0"/>
          </a:p>
          <a:p>
            <a:pPr marL="0" indent="0" algn="l">
              <a:lnSpc>
                <a:spcPts val="2025"/>
              </a:lnSpc>
              <a:buNone/>
            </a:pPr>
            <a:r>
              <a:rPr lang="en-US" sz="1350" b="1" dirty="0">
                <a:solidFill>
                  <a:srgbClr val="2E7D32"/>
                </a:solidFill>
                <a:latin typeface="Courier New" pitchFamily="49" charset="0"/>
                <a:ea typeface="Courier New" pitchFamily="49" charset="-122"/>
                <a:cs typeface="Courier New" pitchFamily="49" charset="-120"/>
              </a:rPr>
              <a:t>[аннотация из журнала]</a:t>
            </a:r>
            <a:endParaRPr lang="en-US" sz="1350" dirty="0"/>
          </a:p>
          <a:p>
            <a:pPr marL="0" indent="0" algn="l">
              <a:lnSpc>
                <a:spcPts val="2025"/>
              </a:lnSpc>
              <a:buNone/>
            </a:pPr>
            <a:endParaRPr lang="en-US" sz="1350" dirty="0"/>
          </a:p>
          <a:p>
            <a:pPr marL="0" indent="0" algn="l">
              <a:lnSpc>
                <a:spcPts val="2025"/>
              </a:lnSpc>
              <a:buNone/>
            </a:pPr>
            <a:r>
              <a:rPr lang="en-US" sz="1350" dirty="0">
                <a:solidFill>
                  <a:srgbClr val="1A1A1A"/>
                </a:solidFill>
                <a:latin typeface="Courier New" pitchFamily="49" charset="0"/>
                <a:ea typeface="Courier New" pitchFamily="49" charset="-122"/>
                <a:cs typeface="Courier New" pitchFamily="49" charset="-120"/>
              </a:rPr>
              <a:t>Статья:</a:t>
            </a:r>
            <a:endParaRPr lang="en-US" sz="1350" dirty="0"/>
          </a:p>
          <a:p>
            <a:pPr marL="0" indent="0" algn="l">
              <a:lnSpc>
                <a:spcPts val="2025"/>
              </a:lnSpc>
              <a:buNone/>
            </a:pPr>
            <a:r>
              <a:rPr lang="en-US" sz="1350" dirty="0">
                <a:solidFill>
                  <a:srgbClr val="1A1A1A"/>
                </a:solidFill>
                <a:latin typeface="Courier New" pitchFamily="49" charset="0"/>
                <a:ea typeface="Courier New" pitchFamily="49" charset="-122"/>
                <a:cs typeface="Courier New" pitchFamily="49" charset="-120"/>
              </a:rPr>
              <a:t>[текст]</a:t>
            </a:r>
            <a:endParaRPr lang="en-US" sz="1350" dirty="0"/>
          </a:p>
        </p:txBody>
      </p:sp>
      <p:sp>
        <p:nvSpPr>
          <p:cNvPr id="5" name="Shape 2"/>
          <p:cNvSpPr/>
          <p:nvPr/>
        </p:nvSpPr>
        <p:spPr>
          <a:xfrm>
            <a:off x="6629400" y="1393192"/>
            <a:ext cx="228600" cy="228600"/>
          </a:xfrm>
          <a:prstGeom prst="rect">
            <a:avLst/>
          </a:prstGeom>
          <a:solidFill>
            <a:srgbClr val="1F5FAD"/>
          </a:solidFill>
          <a:ln/>
        </p:spPr>
      </p:sp>
      <p:sp>
        <p:nvSpPr>
          <p:cNvPr id="6" name="Text 3"/>
          <p:cNvSpPr/>
          <p:nvPr/>
        </p:nvSpPr>
        <p:spPr>
          <a:xfrm>
            <a:off x="6985000" y="1393192"/>
            <a:ext cx="452602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F5FAD"/>
                </a:solidFill>
                <a:latin typeface="Arial" pitchFamily="34" charset="0"/>
                <a:ea typeface="Arial" pitchFamily="34" charset="-122"/>
                <a:cs typeface="Arial" pitchFamily="34" charset="-120"/>
              </a:rPr>
              <a:t>Формат</a:t>
            </a:r>
            <a:endParaRPr lang="en-US" sz="1700" dirty="0"/>
          </a:p>
        </p:txBody>
      </p:sp>
      <p:sp>
        <p:nvSpPr>
          <p:cNvPr id="7" name="Text 4"/>
          <p:cNvSpPr/>
          <p:nvPr/>
        </p:nvSpPr>
        <p:spPr>
          <a:xfrm>
            <a:off x="6985000" y="1677671"/>
            <a:ext cx="45260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структура и объём аннотации</a:t>
            </a:r>
            <a:endParaRPr lang="en-US" sz="1400" dirty="0"/>
          </a:p>
        </p:txBody>
      </p:sp>
      <p:sp>
        <p:nvSpPr>
          <p:cNvPr id="8" name="Shape 5"/>
          <p:cNvSpPr/>
          <p:nvPr/>
        </p:nvSpPr>
        <p:spPr>
          <a:xfrm>
            <a:off x="6629400" y="2155192"/>
            <a:ext cx="228600" cy="228600"/>
          </a:xfrm>
          <a:prstGeom prst="rect">
            <a:avLst/>
          </a:prstGeom>
          <a:solidFill>
            <a:srgbClr val="2E7D32"/>
          </a:solidFill>
          <a:ln/>
        </p:spPr>
      </p:sp>
      <p:sp>
        <p:nvSpPr>
          <p:cNvPr id="9" name="Text 6"/>
          <p:cNvSpPr/>
          <p:nvPr/>
        </p:nvSpPr>
        <p:spPr>
          <a:xfrm>
            <a:off x="6985000" y="2155192"/>
            <a:ext cx="452602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E7D32"/>
                </a:solidFill>
                <a:latin typeface="Arial" pitchFamily="34" charset="0"/>
                <a:ea typeface="Arial" pitchFamily="34" charset="-122"/>
                <a:cs typeface="Arial" pitchFamily="34" charset="-120"/>
              </a:rPr>
              <a:t>Пример (few-shot)</a:t>
            </a:r>
            <a:endParaRPr lang="en-US" sz="1700" dirty="0"/>
          </a:p>
        </p:txBody>
      </p:sp>
      <p:sp>
        <p:nvSpPr>
          <p:cNvPr id="10" name="Text 7"/>
          <p:cNvSpPr/>
          <p:nvPr/>
        </p:nvSpPr>
        <p:spPr>
          <a:xfrm>
            <a:off x="6985000" y="2439671"/>
            <a:ext cx="4526026"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показать модели 1-2 готовые аннотации из нужного журнала, чтобы она писала так же</a:t>
            </a:r>
            <a:endParaRPr lang="en-US" sz="1400" dirty="0"/>
          </a:p>
        </p:txBody>
      </p:sp>
      <p:sp>
        <p:nvSpPr>
          <p:cNvPr id="11" name="Shape 8"/>
          <p:cNvSpPr/>
          <p:nvPr/>
        </p:nvSpPr>
        <p:spPr>
          <a:xfrm>
            <a:off x="6629400" y="3166114"/>
            <a:ext cx="228600" cy="228600"/>
          </a:xfrm>
          <a:prstGeom prst="rect">
            <a:avLst/>
          </a:prstGeom>
          <a:solidFill>
            <a:srgbClr val="C2571A"/>
          </a:solidFill>
          <a:ln/>
        </p:spPr>
      </p:sp>
      <p:sp>
        <p:nvSpPr>
          <p:cNvPr id="12" name="Text 9"/>
          <p:cNvSpPr/>
          <p:nvPr/>
        </p:nvSpPr>
        <p:spPr>
          <a:xfrm>
            <a:off x="6985000" y="3166114"/>
            <a:ext cx="4526026"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C2571A"/>
                </a:solidFill>
                <a:latin typeface="Arial" pitchFamily="34" charset="0"/>
                <a:ea typeface="Arial" pitchFamily="34" charset="-122"/>
                <a:cs typeface="Arial" pitchFamily="34" charset="-120"/>
              </a:rPr>
              <a:t>Ограничения</a:t>
            </a:r>
            <a:endParaRPr lang="en-US" sz="1700" dirty="0"/>
          </a:p>
        </p:txBody>
      </p:sp>
      <p:sp>
        <p:nvSpPr>
          <p:cNvPr id="13" name="Text 10"/>
          <p:cNvSpPr/>
          <p:nvPr/>
        </p:nvSpPr>
        <p:spPr>
          <a:xfrm>
            <a:off x="6985000" y="3450592"/>
            <a:ext cx="452602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555555"/>
                </a:solidFill>
                <a:latin typeface="Arial" pitchFamily="34" charset="0"/>
                <a:ea typeface="Arial" pitchFamily="34" charset="-122"/>
                <a:cs typeface="Arial" pitchFamily="34" charset="-120"/>
              </a:rPr>
              <a:t>запрет брать данные не из текста</a:t>
            </a:r>
            <a:endParaRPr lang="en-US" sz="1400" dirty="0"/>
          </a:p>
        </p:txBody>
      </p:sp>
      <p:sp>
        <p:nvSpPr>
          <p:cNvPr id="14" name="Text 11"/>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Длинные тексты: схема map-reduce</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sp>
        <p:nvSpPr>
          <p:cNvPr id="4" name="Text 1"/>
          <p:cNvSpPr/>
          <p:nvPr/>
        </p:nvSpPr>
        <p:spPr>
          <a:xfrm>
            <a:off x="780415" y="1413514"/>
            <a:ext cx="222377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555555"/>
                </a:solidFill>
                <a:latin typeface="Arial" pitchFamily="34" charset="0"/>
                <a:ea typeface="Arial" pitchFamily="34" charset="-122"/>
                <a:cs typeface="Arial" pitchFamily="34" charset="-120"/>
              </a:rPr>
              <a:t>Разделы статьи</a:t>
            </a:r>
            <a:endParaRPr lang="en-US" sz="1400" dirty="0"/>
          </a:p>
        </p:txBody>
      </p:sp>
      <p:sp>
        <p:nvSpPr>
          <p:cNvPr id="5" name="Text 2"/>
          <p:cNvSpPr/>
          <p:nvPr/>
        </p:nvSpPr>
        <p:spPr>
          <a:xfrm>
            <a:off x="819150" y="1757679"/>
            <a:ext cx="2146300" cy="469900"/>
          </a:xfrm>
          <a:prstGeom prst="rect">
            <a:avLst/>
          </a:prstGeom>
          <a:solidFill>
            <a:srgbClr val="F2F2F2"/>
          </a:solidFill>
          <a:ln w="12700">
            <a:solidFill>
              <a:srgbClr val="1A1A1A"/>
            </a:solidFill>
            <a:prstDash val="solid"/>
          </a:ln>
        </p:spPr>
        <p:txBody>
          <a:bodyPr wrap="square" lIns="128702" tIns="92710" rIns="128702" bIns="67310"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Введение</a:t>
            </a:r>
            <a:endParaRPr lang="en-US" sz="1600" dirty="0"/>
          </a:p>
        </p:txBody>
      </p:sp>
      <p:sp>
        <p:nvSpPr>
          <p:cNvPr id="6" name="Text 3"/>
          <p:cNvSpPr/>
          <p:nvPr/>
        </p:nvSpPr>
        <p:spPr>
          <a:xfrm>
            <a:off x="819150" y="2329179"/>
            <a:ext cx="2146300" cy="469900"/>
          </a:xfrm>
          <a:prstGeom prst="rect">
            <a:avLst/>
          </a:prstGeom>
          <a:solidFill>
            <a:srgbClr val="F2F2F2"/>
          </a:solidFill>
          <a:ln w="12700">
            <a:solidFill>
              <a:srgbClr val="1A1A1A"/>
            </a:solidFill>
            <a:prstDash val="solid"/>
          </a:ln>
        </p:spPr>
        <p:txBody>
          <a:bodyPr wrap="square" lIns="128702" tIns="92710" rIns="128702" bIns="67310"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Методы</a:t>
            </a:r>
            <a:endParaRPr lang="en-US" sz="1600" dirty="0"/>
          </a:p>
        </p:txBody>
      </p:sp>
      <p:sp>
        <p:nvSpPr>
          <p:cNvPr id="7" name="Text 4"/>
          <p:cNvSpPr/>
          <p:nvPr/>
        </p:nvSpPr>
        <p:spPr>
          <a:xfrm>
            <a:off x="819150" y="2900679"/>
            <a:ext cx="2146300" cy="469900"/>
          </a:xfrm>
          <a:prstGeom prst="rect">
            <a:avLst/>
          </a:prstGeom>
          <a:solidFill>
            <a:srgbClr val="F2F2F2"/>
          </a:solidFill>
          <a:ln w="12700">
            <a:solidFill>
              <a:srgbClr val="1A1A1A"/>
            </a:solidFill>
            <a:prstDash val="solid"/>
          </a:ln>
        </p:spPr>
        <p:txBody>
          <a:bodyPr wrap="square" lIns="128702" tIns="92710" rIns="128702" bIns="67310"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Результаты</a:t>
            </a:r>
            <a:endParaRPr lang="en-US" sz="1600" dirty="0"/>
          </a:p>
        </p:txBody>
      </p:sp>
      <p:sp>
        <p:nvSpPr>
          <p:cNvPr id="8" name="Text 5"/>
          <p:cNvSpPr/>
          <p:nvPr/>
        </p:nvSpPr>
        <p:spPr>
          <a:xfrm>
            <a:off x="819150" y="3472179"/>
            <a:ext cx="2146300" cy="469900"/>
          </a:xfrm>
          <a:prstGeom prst="rect">
            <a:avLst/>
          </a:prstGeom>
          <a:solidFill>
            <a:srgbClr val="F2F2F2"/>
          </a:solidFill>
          <a:ln w="12700">
            <a:solidFill>
              <a:srgbClr val="1A1A1A"/>
            </a:solidFill>
            <a:prstDash val="solid"/>
          </a:ln>
        </p:spPr>
        <p:txBody>
          <a:bodyPr wrap="square" lIns="128702" tIns="92710" rIns="128702" bIns="67310"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Выводы</a:t>
            </a:r>
            <a:endParaRPr lang="en-US" sz="1600" dirty="0"/>
          </a:p>
        </p:txBody>
      </p:sp>
      <p:sp>
        <p:nvSpPr>
          <p:cNvPr id="9" name="Text 6"/>
          <p:cNvSpPr/>
          <p:nvPr/>
        </p:nvSpPr>
        <p:spPr>
          <a:xfrm>
            <a:off x="3200400" y="2396492"/>
            <a:ext cx="487680" cy="594360"/>
          </a:xfrm>
          <a:prstGeom prst="rect">
            <a:avLst/>
          </a:prstGeom>
          <a:noFill/>
          <a:ln/>
        </p:spPr>
        <p:txBody>
          <a:bodyPr wrap="square" lIns="0" tIns="0" rIns="0" bIns="0" rtlCol="0" anchor="t">
            <a:normAutofit/>
          </a:bodyPr>
          <a:lstStyle/>
          <a:p>
            <a:pPr marL="0" indent="0" algn="l">
              <a:lnSpc>
                <a:spcPts val="4480"/>
              </a:lnSpc>
              <a:buNone/>
            </a:pPr>
            <a:r>
              <a:rPr lang="en-US" sz="3200" dirty="0">
                <a:solidFill>
                  <a:srgbClr val="1A1A1A"/>
                </a:solidFill>
                <a:latin typeface="Arial" pitchFamily="34" charset="0"/>
                <a:ea typeface="Arial" pitchFamily="34" charset="-122"/>
                <a:cs typeface="Arial" pitchFamily="34" charset="-120"/>
              </a:rPr>
              <a:t>→</a:t>
            </a:r>
            <a:endParaRPr lang="en-US" sz="3200" dirty="0"/>
          </a:p>
        </p:txBody>
      </p:sp>
      <p:sp>
        <p:nvSpPr>
          <p:cNvPr id="10" name="Text 7"/>
          <p:cNvSpPr/>
          <p:nvPr/>
        </p:nvSpPr>
        <p:spPr>
          <a:xfrm>
            <a:off x="3803015" y="1393192"/>
            <a:ext cx="2223770"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555555"/>
                </a:solidFill>
                <a:latin typeface="Arial" pitchFamily="34" charset="0"/>
                <a:ea typeface="Arial" pitchFamily="34" charset="-122"/>
                <a:cs typeface="Arial" pitchFamily="34" charset="-120"/>
              </a:rPr>
              <a:t>Шаг 1 (map)</a:t>
            </a:r>
            <a:endParaRPr lang="en-US" sz="1400" dirty="0"/>
          </a:p>
        </p:txBody>
      </p:sp>
      <p:sp>
        <p:nvSpPr>
          <p:cNvPr id="11" name="Text 8"/>
          <p:cNvSpPr/>
          <p:nvPr/>
        </p:nvSpPr>
        <p:spPr>
          <a:xfrm>
            <a:off x="3844925" y="1740539"/>
            <a:ext cx="2139950" cy="473710"/>
          </a:xfrm>
          <a:prstGeom prst="rect">
            <a:avLst/>
          </a:prstGeom>
          <a:solidFill>
            <a:srgbClr val="FFFFFF"/>
          </a:solidFill>
          <a:ln w="19050">
            <a:solidFill>
              <a:srgbClr val="1F3A68"/>
            </a:solidFill>
            <a:prstDash val="solid"/>
          </a:ln>
        </p:spPr>
        <p:txBody>
          <a:bodyPr wrap="square" lIns="130759" tIns="94615" rIns="130759" bIns="69215"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Выжимка 1</a:t>
            </a:r>
            <a:endParaRPr lang="en-US" sz="1600" dirty="0"/>
          </a:p>
        </p:txBody>
      </p:sp>
      <p:sp>
        <p:nvSpPr>
          <p:cNvPr id="12" name="Text 9"/>
          <p:cNvSpPr/>
          <p:nvPr/>
        </p:nvSpPr>
        <p:spPr>
          <a:xfrm>
            <a:off x="3844925" y="2322196"/>
            <a:ext cx="2139950" cy="473710"/>
          </a:xfrm>
          <a:prstGeom prst="rect">
            <a:avLst/>
          </a:prstGeom>
          <a:solidFill>
            <a:srgbClr val="FFFFFF"/>
          </a:solidFill>
          <a:ln w="19050">
            <a:solidFill>
              <a:srgbClr val="1F3A68"/>
            </a:solidFill>
            <a:prstDash val="solid"/>
          </a:ln>
        </p:spPr>
        <p:txBody>
          <a:bodyPr wrap="square" lIns="130759" tIns="94615" rIns="130759" bIns="69215"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Выжимка 2</a:t>
            </a:r>
            <a:endParaRPr lang="en-US" sz="1600" dirty="0"/>
          </a:p>
        </p:txBody>
      </p:sp>
      <p:sp>
        <p:nvSpPr>
          <p:cNvPr id="13" name="Text 10"/>
          <p:cNvSpPr/>
          <p:nvPr/>
        </p:nvSpPr>
        <p:spPr>
          <a:xfrm>
            <a:off x="3844925" y="2903854"/>
            <a:ext cx="2139950" cy="473710"/>
          </a:xfrm>
          <a:prstGeom prst="rect">
            <a:avLst/>
          </a:prstGeom>
          <a:solidFill>
            <a:srgbClr val="FFFFFF"/>
          </a:solidFill>
          <a:ln w="19050">
            <a:solidFill>
              <a:srgbClr val="1F3A68"/>
            </a:solidFill>
            <a:prstDash val="solid"/>
          </a:ln>
        </p:spPr>
        <p:txBody>
          <a:bodyPr wrap="square" lIns="130759" tIns="94615" rIns="130759" bIns="69215"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Выжимка 3</a:t>
            </a:r>
            <a:endParaRPr lang="en-US" sz="1600" dirty="0"/>
          </a:p>
        </p:txBody>
      </p:sp>
      <p:sp>
        <p:nvSpPr>
          <p:cNvPr id="14" name="Text 11"/>
          <p:cNvSpPr/>
          <p:nvPr/>
        </p:nvSpPr>
        <p:spPr>
          <a:xfrm>
            <a:off x="3844925" y="3485517"/>
            <a:ext cx="2139950" cy="473710"/>
          </a:xfrm>
          <a:prstGeom prst="rect">
            <a:avLst/>
          </a:prstGeom>
          <a:solidFill>
            <a:srgbClr val="FFFFFF"/>
          </a:solidFill>
          <a:ln w="19050">
            <a:solidFill>
              <a:srgbClr val="1F3A68"/>
            </a:solidFill>
            <a:prstDash val="solid"/>
          </a:ln>
        </p:spPr>
        <p:txBody>
          <a:bodyPr wrap="square" lIns="130759" tIns="94615" rIns="130759" bIns="69215" rtlCol="0" anchor="t">
            <a:normAutofit/>
          </a:bodyPr>
          <a:lstStyle/>
          <a:p>
            <a:pPr marL="0" indent="0" algn="ctr">
              <a:lnSpc>
                <a:spcPts val="2240"/>
              </a:lnSpc>
              <a:buNone/>
            </a:pPr>
            <a:r>
              <a:rPr lang="en-US" sz="1600" dirty="0">
                <a:solidFill>
                  <a:srgbClr val="1A1A1A"/>
                </a:solidFill>
                <a:latin typeface="Arial" pitchFamily="34" charset="0"/>
                <a:ea typeface="Arial" pitchFamily="34" charset="-122"/>
                <a:cs typeface="Arial" pitchFamily="34" charset="-120"/>
              </a:rPr>
              <a:t>Выжимка 4</a:t>
            </a:r>
            <a:endParaRPr lang="en-US" sz="1600" dirty="0"/>
          </a:p>
        </p:txBody>
      </p:sp>
      <p:sp>
        <p:nvSpPr>
          <p:cNvPr id="15" name="Text 12"/>
          <p:cNvSpPr/>
          <p:nvPr/>
        </p:nvSpPr>
        <p:spPr>
          <a:xfrm>
            <a:off x="6223000" y="2396492"/>
            <a:ext cx="487680" cy="594360"/>
          </a:xfrm>
          <a:prstGeom prst="rect">
            <a:avLst/>
          </a:prstGeom>
          <a:noFill/>
          <a:ln/>
        </p:spPr>
        <p:txBody>
          <a:bodyPr wrap="square" lIns="0" tIns="0" rIns="0" bIns="0" rtlCol="0" anchor="t">
            <a:normAutofit/>
          </a:bodyPr>
          <a:lstStyle/>
          <a:p>
            <a:pPr marL="0" indent="0" algn="l">
              <a:lnSpc>
                <a:spcPts val="4480"/>
              </a:lnSpc>
              <a:buNone/>
            </a:pPr>
            <a:r>
              <a:rPr lang="en-US" sz="3200" dirty="0">
                <a:solidFill>
                  <a:srgbClr val="1A1A1A"/>
                </a:solidFill>
                <a:latin typeface="Arial" pitchFamily="34" charset="0"/>
                <a:ea typeface="Arial" pitchFamily="34" charset="-122"/>
                <a:cs typeface="Arial" pitchFamily="34" charset="-120"/>
              </a:rPr>
              <a:t>→</a:t>
            </a:r>
            <a:endParaRPr lang="en-US" sz="3200" dirty="0"/>
          </a:p>
        </p:txBody>
      </p:sp>
      <p:sp>
        <p:nvSpPr>
          <p:cNvPr id="16" name="Text 13"/>
          <p:cNvSpPr/>
          <p:nvPr/>
        </p:nvSpPr>
        <p:spPr>
          <a:xfrm>
            <a:off x="6790182" y="1912621"/>
            <a:ext cx="4656836" cy="274320"/>
          </a:xfrm>
          <a:prstGeom prst="rect">
            <a:avLst/>
          </a:prstGeom>
          <a:noFill/>
          <a:ln/>
        </p:spPr>
        <p:txBody>
          <a:bodyPr wrap="square" lIns="0" tIns="0" rIns="0" bIns="0" rtlCol="0" anchor="t">
            <a:normAutofit/>
          </a:bodyPr>
          <a:lstStyle/>
          <a:p>
            <a:pPr marL="0" indent="0" algn="ctr">
              <a:lnSpc>
                <a:spcPts val="1960"/>
              </a:lnSpc>
              <a:buNone/>
            </a:pPr>
            <a:r>
              <a:rPr lang="en-US" sz="1400" b="1" dirty="0">
                <a:solidFill>
                  <a:srgbClr val="555555"/>
                </a:solidFill>
                <a:latin typeface="Arial" pitchFamily="34" charset="0"/>
                <a:ea typeface="Arial" pitchFamily="34" charset="-122"/>
                <a:cs typeface="Arial" pitchFamily="34" charset="-120"/>
              </a:rPr>
              <a:t>Шаг 2 (reduce)</a:t>
            </a:r>
            <a:endParaRPr lang="en-US" sz="1400" dirty="0"/>
          </a:p>
        </p:txBody>
      </p:sp>
      <p:sp>
        <p:nvSpPr>
          <p:cNvPr id="17" name="Text 14"/>
          <p:cNvSpPr/>
          <p:nvPr/>
        </p:nvSpPr>
        <p:spPr>
          <a:xfrm>
            <a:off x="6867525" y="2259967"/>
            <a:ext cx="4502150" cy="1179830"/>
          </a:xfrm>
          <a:prstGeom prst="rect">
            <a:avLst/>
          </a:prstGeom>
          <a:noFill/>
          <a:ln w="19050">
            <a:solidFill>
              <a:srgbClr val="C2571A"/>
            </a:solidFill>
            <a:prstDash val="solid"/>
          </a:ln>
        </p:spPr>
        <p:txBody>
          <a:bodyPr wrap="square" lIns="95326" tIns="412115" rIns="95326" bIns="386715" rtlCol="0" anchor="t">
            <a:normAutofit/>
          </a:bodyPr>
          <a:lstStyle/>
          <a:p>
            <a:pPr marL="0" indent="0" algn="ctr">
              <a:lnSpc>
                <a:spcPts val="2800"/>
              </a:lnSpc>
              <a:buNone/>
            </a:pPr>
            <a:r>
              <a:rPr lang="en-US" sz="2000" b="1" dirty="0">
                <a:solidFill>
                  <a:srgbClr val="C2571A"/>
                </a:solidFill>
                <a:latin typeface="Arial" pitchFamily="34" charset="0"/>
                <a:ea typeface="Arial" pitchFamily="34" charset="-122"/>
                <a:cs typeface="Arial" pitchFamily="34" charset="-120"/>
              </a:rPr>
              <a:t>Аннотация</a:t>
            </a:r>
            <a:endParaRPr lang="en-US" sz="2000" dirty="0"/>
          </a:p>
        </p:txBody>
      </p:sp>
      <p:sp>
        <p:nvSpPr>
          <p:cNvPr id="18" name="Text 15"/>
          <p:cNvSpPr/>
          <p:nvPr/>
        </p:nvSpPr>
        <p:spPr>
          <a:xfrm>
            <a:off x="896620" y="4197350"/>
            <a:ext cx="10791952" cy="825500"/>
          </a:xfrm>
          <a:prstGeom prst="rect">
            <a:avLst/>
          </a:prstGeom>
          <a:noFill/>
          <a:ln/>
        </p:spPr>
        <p:txBody>
          <a:bodyPr wrap="square" lIns="0" tIns="0" rIns="0" bIns="0" rtlCol="0" anchor="t">
            <a:normAutofit/>
          </a:bodyPr>
          <a:lstStyle/>
          <a:p>
            <a:pPr marL="170180" indent="-170180" algn="l">
              <a:lnSpc>
                <a:spcPts val="2100"/>
              </a:lnSpc>
              <a:buSzPct val="100000"/>
              <a:buChar char="•"/>
            </a:pPr>
            <a:r>
              <a:rPr lang="en-US" sz="1500" b="1" dirty="0">
                <a:solidFill>
                  <a:srgbClr val="1A1A1A"/>
                </a:solidFill>
                <a:latin typeface="Arial" pitchFamily="34" charset="0"/>
                <a:ea typeface="Arial" pitchFamily="34" charset="-122"/>
                <a:cs typeface="Arial" pitchFamily="34" charset="-120"/>
              </a:rPr>
              <a:t>Проблема:</a:t>
            </a:r>
            <a:r>
              <a:rPr lang="en-US" sz="1500" dirty="0">
                <a:solidFill>
                  <a:srgbClr val="1A1A1A"/>
                </a:solidFill>
                <a:latin typeface="Arial" pitchFamily="34" charset="0"/>
                <a:ea typeface="Arial" pitchFamily="34" charset="-122"/>
                <a:cs typeface="Arial" pitchFamily="34" charset="-120"/>
              </a:rPr>
              <a:t> модель за раз читает ограниченный объём текста (контекстное окно), и ВКР или диссертация туда не влезает</a:t>
            </a:r>
            <a:endParaRPr lang="en-US" sz="1500" dirty="0"/>
          </a:p>
          <a:p>
            <a:pPr marL="170180" indent="-170180" algn="l">
              <a:lnSpc>
                <a:spcPts val="2100"/>
              </a:lnSpc>
              <a:buSzPct val="100000"/>
              <a:buChar char="•"/>
            </a:pPr>
            <a:r>
              <a:rPr lang="en-US" sz="1500" b="1" dirty="0">
                <a:solidFill>
                  <a:srgbClr val="1A1A1A"/>
                </a:solidFill>
                <a:latin typeface="Arial" pitchFamily="34" charset="0"/>
                <a:ea typeface="Arial" pitchFamily="34" charset="-122"/>
                <a:cs typeface="Arial" pitchFamily="34" charset="-120"/>
              </a:rPr>
              <a:t>Решение:</a:t>
            </a:r>
            <a:r>
              <a:rPr lang="en-US" sz="1500" dirty="0">
                <a:solidFill>
                  <a:srgbClr val="1A1A1A"/>
                </a:solidFill>
                <a:latin typeface="Arial" pitchFamily="34" charset="0"/>
                <a:ea typeface="Arial" pitchFamily="34" charset="-122"/>
                <a:cs typeface="Arial" pitchFamily="34" charset="-120"/>
              </a:rPr>
              <a:t> сначала сжать каждый раздел отдельно, потом написать аннотацию по выжимкам</a:t>
            </a:r>
            <a:endParaRPr lang="en-US" sz="1500" dirty="0"/>
          </a:p>
        </p:txBody>
      </p:sp>
      <p:sp>
        <p:nvSpPr>
          <p:cNvPr id="19" name="Text 16"/>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Типичные ошибки моделей</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377952"/>
          <a:ext cx="10556241" cy="325120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95935">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Ошибка</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В статье</a:t>
                      </a:r>
                      <a:endParaRPr lang="en-US" sz="1500" dirty="0">
                        <a:latin typeface="Arial" charset="0"/>
                        <a:ea typeface="Arial" charset="0"/>
                        <a:cs typeface="Arial" charset="0"/>
                      </a:endParaRPr>
                    </a:p>
                  </a:txBody>
                  <a:tcPr marL="139700" marR="1397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2100"/>
                        </a:lnSpc>
                        <a:buNone/>
                      </a:pPr>
                      <a:r>
                        <a:rPr lang="en-US" sz="1500" b="1" dirty="0">
                          <a:solidFill>
                            <a:srgbClr val="1A1A1A"/>
                          </a:solidFill>
                          <a:latin typeface="Arial" pitchFamily="34" charset="0"/>
                          <a:ea typeface="Arial" pitchFamily="34" charset="-122"/>
                          <a:cs typeface="Arial" pitchFamily="34" charset="-120"/>
                        </a:rPr>
                        <a:t>Сгенерировано</a:t>
                      </a:r>
                      <a:endParaRPr lang="en-US" sz="1500" dirty="0">
                        <a:latin typeface="Arial" charset="0"/>
                        <a:ea typeface="Arial" charset="0"/>
                        <a:cs typeface="Arial" charset="0"/>
                      </a:endParaRPr>
                    </a:p>
                  </a:txBody>
                  <a:tcPr marL="139700" marR="139700" marT="114300" marB="1143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75311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Галлюцинация</a:t>
                      </a:r>
                      <a:endParaRPr lang="en-US" sz="1500" dirty="0">
                        <a:latin typeface="Arial" charset="0"/>
                        <a:ea typeface="Arial" charset="0"/>
                        <a:cs typeface="Arial" charset="0"/>
                      </a:endParaRPr>
                    </a:p>
                    <a:p>
                      <a:pPr marL="0" indent="0">
                        <a:lnSpc>
                          <a:spcPts val="2100"/>
                        </a:lnSpc>
                        <a:buNone/>
                      </a:pPr>
                      <a:r>
                        <a:rPr lang="en-US" sz="1500" dirty="0">
                          <a:solidFill>
                            <a:srgbClr val="1A1A1A"/>
                          </a:solidFill>
                          <a:latin typeface="Arial" pitchFamily="34" charset="0"/>
                          <a:ea typeface="Arial" pitchFamily="34" charset="-122"/>
                          <a:cs typeface="Arial" pitchFamily="34" charset="-120"/>
                        </a:rPr>
                        <a:t>выдумка факта</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Точность сопоставима с МКР</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Точность на 15% выше, чем у МКР</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75311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Потеря главного</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Модель работает при неполных данных</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Нейросети активно применяются в науке...</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753110">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Шаблонные фразы</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Построена модель температурного поля</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В данной работе рассматривается актуальная проблема...</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r h="495935">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Не тот формат</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Требование журнала: до 250 слов</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2100"/>
                        </a:lnSpc>
                        <a:buNone/>
                      </a:pPr>
                      <a:r>
                        <a:rPr lang="en-US" sz="1500" dirty="0">
                          <a:solidFill>
                            <a:srgbClr val="1A1A1A"/>
                          </a:solidFill>
                          <a:latin typeface="Arial" pitchFamily="34" charset="0"/>
                          <a:ea typeface="Arial" pitchFamily="34" charset="-122"/>
                          <a:cs typeface="Arial" pitchFamily="34" charset="-120"/>
                        </a:rPr>
                        <a:t>Около 500 слов, пять абзацев</a:t>
                      </a:r>
                      <a:endParaRPr lang="en-US" sz="1500" dirty="0">
                        <a:latin typeface="Arial" charset="0"/>
                        <a:ea typeface="Arial" charset="0"/>
                        <a:cs typeface="Arial" charset="0"/>
                      </a:endParaRPr>
                    </a:p>
                  </a:txBody>
                  <a:tcPr marL="139700" marR="139700" marT="114300" marB="1143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Text 2"/>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Оценка качества</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sp>
        <p:nvSpPr>
          <p:cNvPr id="4" name="Shape 1"/>
          <p:cNvSpPr/>
          <p:nvPr/>
        </p:nvSpPr>
        <p:spPr>
          <a:xfrm>
            <a:off x="819150" y="1348742"/>
            <a:ext cx="10553700" cy="1343660"/>
          </a:xfrm>
          <a:prstGeom prst="rect">
            <a:avLst/>
          </a:prstGeom>
          <a:noFill/>
          <a:ln w="12700">
            <a:solidFill>
              <a:srgbClr val="C8C8C8"/>
            </a:solidFill>
            <a:prstDash val="solid"/>
          </a:ln>
        </p:spPr>
      </p:sp>
      <p:sp>
        <p:nvSpPr>
          <p:cNvPr id="5" name="Text 2"/>
          <p:cNvSpPr/>
          <p:nvPr/>
        </p:nvSpPr>
        <p:spPr>
          <a:xfrm>
            <a:off x="1051560" y="1530350"/>
            <a:ext cx="10391547"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1A1A1A"/>
                </a:solidFill>
                <a:latin typeface="Arial" pitchFamily="34" charset="0"/>
                <a:ea typeface="Arial" pitchFamily="34" charset="-122"/>
                <a:cs typeface="Arial" pitchFamily="34" charset="-120"/>
              </a:rPr>
              <a:t>Авторская:</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Модель</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восстанавливает</a:t>
            </a:r>
            <a:r>
              <a:rPr lang="en-US" sz="1500" dirty="0">
                <a:solidFill>
                  <a:srgbClr val="1A1A1A"/>
                </a:solidFill>
                <a:latin typeface="Arial" pitchFamily="34" charset="0"/>
                <a:ea typeface="Arial" pitchFamily="34" charset="-122"/>
                <a:cs typeface="Arial" pitchFamily="34" charset="-120"/>
              </a:rPr>
              <a:t> поле </a:t>
            </a:r>
            <a:r>
              <a:rPr lang="en-US" sz="1500" b="1" dirty="0">
                <a:solidFill>
                  <a:srgbClr val="1F5FAD"/>
                </a:solidFill>
                <a:latin typeface="Arial" pitchFamily="34" charset="0"/>
                <a:ea typeface="Arial" pitchFamily="34" charset="-122"/>
                <a:cs typeface="Arial" pitchFamily="34" charset="-120"/>
              </a:rPr>
              <a:t>температуры</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по</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неполным</a:t>
            </a:r>
            <a:r>
              <a:rPr lang="en-US" sz="1500" dirty="0">
                <a:solidFill>
                  <a:srgbClr val="1A1A1A"/>
                </a:solidFill>
                <a:latin typeface="Arial" pitchFamily="34" charset="0"/>
                <a:ea typeface="Arial" pitchFamily="34" charset="-122"/>
                <a:cs typeface="Arial" pitchFamily="34" charset="-120"/>
              </a:rPr>
              <a:t> данным</a:t>
            </a:r>
            <a:endParaRPr lang="en-US" sz="1500" dirty="0"/>
          </a:p>
        </p:txBody>
      </p:sp>
      <p:sp>
        <p:nvSpPr>
          <p:cNvPr id="6" name="Text 3"/>
          <p:cNvSpPr/>
          <p:nvPr/>
        </p:nvSpPr>
        <p:spPr>
          <a:xfrm>
            <a:off x="1051560" y="1905000"/>
            <a:ext cx="10391547"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1A1A1A"/>
                </a:solidFill>
                <a:latin typeface="Arial" pitchFamily="34" charset="0"/>
                <a:ea typeface="Arial" pitchFamily="34" charset="-122"/>
                <a:cs typeface="Arial" pitchFamily="34" charset="-120"/>
              </a:rPr>
              <a:t>Сгенерированная:</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Модель</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восстанавливает</a:t>
            </a:r>
            <a:r>
              <a:rPr lang="en-US" sz="1500" dirty="0">
                <a:solidFill>
                  <a:srgbClr val="1A1A1A"/>
                </a:solidFill>
                <a:latin typeface="Arial" pitchFamily="34" charset="0"/>
                <a:ea typeface="Arial" pitchFamily="34" charset="-122"/>
                <a:cs typeface="Arial" pitchFamily="34" charset="-120"/>
              </a:rPr>
              <a:t> </a:t>
            </a:r>
            <a:r>
              <a:rPr lang="en-US" sz="1500" b="1" dirty="0">
                <a:solidFill>
                  <a:srgbClr val="C2571A"/>
                </a:solidFill>
                <a:latin typeface="Arial" pitchFamily="34" charset="0"/>
                <a:ea typeface="Arial" pitchFamily="34" charset="-122"/>
                <a:cs typeface="Arial" pitchFamily="34" charset="-120"/>
              </a:rPr>
              <a:t>распределение</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температуры</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по</a:t>
            </a:r>
            <a:r>
              <a:rPr lang="en-US" sz="1500" dirty="0">
                <a:solidFill>
                  <a:srgbClr val="1A1A1A"/>
                </a:solidFill>
                <a:latin typeface="Arial" pitchFamily="34" charset="0"/>
                <a:ea typeface="Arial" pitchFamily="34" charset="-122"/>
                <a:cs typeface="Arial" pitchFamily="34" charset="-120"/>
              </a:rPr>
              <a:t> </a:t>
            </a:r>
            <a:r>
              <a:rPr lang="en-US" sz="1500" b="1" dirty="0">
                <a:solidFill>
                  <a:srgbClr val="1F5FAD"/>
                </a:solidFill>
                <a:latin typeface="Arial" pitchFamily="34" charset="0"/>
                <a:ea typeface="Arial" pitchFamily="34" charset="-122"/>
                <a:cs typeface="Arial" pitchFamily="34" charset="-120"/>
              </a:rPr>
              <a:t>неполным</a:t>
            </a:r>
            <a:r>
              <a:rPr lang="en-US" sz="1500" dirty="0">
                <a:solidFill>
                  <a:srgbClr val="1A1A1A"/>
                </a:solidFill>
                <a:latin typeface="Arial" pitchFamily="34" charset="0"/>
                <a:ea typeface="Arial" pitchFamily="34" charset="-122"/>
                <a:cs typeface="Arial" pitchFamily="34" charset="-120"/>
              </a:rPr>
              <a:t> </a:t>
            </a:r>
            <a:r>
              <a:rPr lang="en-US" sz="1500" b="1" dirty="0">
                <a:solidFill>
                  <a:srgbClr val="C2571A"/>
                </a:solidFill>
                <a:latin typeface="Arial" pitchFamily="34" charset="0"/>
                <a:ea typeface="Arial" pitchFamily="34" charset="-122"/>
                <a:cs typeface="Arial" pitchFamily="34" charset="-120"/>
              </a:rPr>
              <a:t>измерениям</a:t>
            </a:r>
            <a:endParaRPr lang="en-US" sz="1500" dirty="0"/>
          </a:p>
        </p:txBody>
      </p:sp>
      <p:sp>
        <p:nvSpPr>
          <p:cNvPr id="7" name="Text 4"/>
          <p:cNvSpPr/>
          <p:nvPr/>
        </p:nvSpPr>
        <p:spPr>
          <a:xfrm>
            <a:off x="1051560" y="2279650"/>
            <a:ext cx="10391547"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5555"/>
                </a:solidFill>
                <a:latin typeface="Arial" pitchFamily="34" charset="0"/>
                <a:ea typeface="Arial" pitchFamily="34" charset="-122"/>
                <a:cs typeface="Arial" pitchFamily="34" charset="-120"/>
              </a:rPr>
              <a:t>Синим: слова совпали. Оранжевым: синонимы, ROUGE их не засчитывает. Итог: 5 из 7.</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2960" y="2886710"/>
          <a:ext cx="10556241" cy="2440750"/>
        </p:xfrm>
        <a:graphic>
          <a:graphicData uri="http://schemas.openxmlformats.org/drawingml/2006/table">
            <a:tbl>
              <a:tblPr/>
              <a:tblGrid>
                <a:gridCol w="3518747">
                  <a:extLst>
                    <a:ext uri="{9D8B030D-6E8A-4147-A177-3AD203B41FA5}">
                      <a16:colId xmlns:a16="http://schemas.microsoft.com/office/drawing/2014/main" val="20000"/>
                    </a:ext>
                  </a:extLst>
                </a:gridCol>
                <a:gridCol w="3518747">
                  <a:extLst>
                    <a:ext uri="{9D8B030D-6E8A-4147-A177-3AD203B41FA5}">
                      <a16:colId xmlns:a16="http://schemas.microsoft.com/office/drawing/2014/main" val="20001"/>
                    </a:ext>
                  </a:extLst>
                </a:gridCol>
                <a:gridCol w="3518747">
                  <a:extLst>
                    <a:ext uri="{9D8B030D-6E8A-4147-A177-3AD203B41FA5}">
                      <a16:colId xmlns:a16="http://schemas.microsoft.com/office/drawing/2014/main" val="20002"/>
                    </a:ext>
                  </a:extLst>
                </a:gridCol>
              </a:tblGrid>
              <a:tr h="427990">
                <a:tc>
                  <a:txBody>
                    <a:bodyPr/>
                    <a:lstStyle/>
                    <a:p>
                      <a:pPr marL="0" indent="0">
                        <a:lnSpc>
                          <a:spcPts val="1960"/>
                        </a:lnSpc>
                        <a:buNone/>
                      </a:pPr>
                      <a:r>
                        <a:rPr lang="en-US" sz="1400" b="1" dirty="0">
                          <a:solidFill>
                            <a:srgbClr val="1A1A1A"/>
                          </a:solidFill>
                          <a:latin typeface="Arial" pitchFamily="34" charset="0"/>
                          <a:ea typeface="Arial" pitchFamily="34" charset="-122"/>
                          <a:cs typeface="Arial" pitchFamily="34" charset="-120"/>
                        </a:rPr>
                        <a:t>Метод</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1A1A1A"/>
                          </a:solidFill>
                          <a:latin typeface="Arial" pitchFamily="34" charset="0"/>
                          <a:ea typeface="Arial" pitchFamily="34" charset="-122"/>
                          <a:cs typeface="Arial" pitchFamily="34" charset="-120"/>
                        </a:rPr>
                        <a:t>Как работает</a:t>
                      </a:r>
                      <a:endParaRPr lang="en-US" sz="1400" dirty="0">
                        <a:latin typeface="Arial" charset="0"/>
                        <a:ea typeface="Arial" charset="0"/>
                        <a:cs typeface="Arial"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dirty="0">
                          <a:solidFill>
                            <a:srgbClr val="1A1A1A"/>
                          </a:solidFill>
                          <a:latin typeface="Arial" pitchFamily="34" charset="0"/>
                          <a:ea typeface="Arial" pitchFamily="34" charset="-122"/>
                          <a:cs typeface="Arial" pitchFamily="34" charset="-120"/>
                        </a:rPr>
                        <a:t>Ограничение</a:t>
                      </a:r>
                      <a:endParaRPr lang="en-US" sz="1400" dirty="0">
                        <a:latin typeface="Arial" charset="0"/>
                        <a:ea typeface="Arial" charset="0"/>
                        <a:cs typeface="Arial" charset="0"/>
                      </a:endParaRPr>
                    </a:p>
                  </a:txBody>
                  <a:tcPr marL="127000" marR="127000" marT="88900" marB="8890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extLst>
                  <a:ext uri="{0D108BD9-81ED-4DB2-BD59-A6C34878D82A}">
                    <a16:rowId xmlns:a16="http://schemas.microsoft.com/office/drawing/2014/main" val="10000"/>
                  </a:ext>
                </a:extLst>
              </a:tr>
              <a:tr h="66802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ROUGE</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Считает, какая доля слов эталона есть в сгенерированном тексте</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Синонимы не засчитывает</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1"/>
                  </a:ext>
                </a:extLst>
              </a:tr>
              <a:tr h="90805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BERTScore</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Нейросеть BERT переводит слова в числа и сравнивает смысл, а не написание</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Не замечает неверные цифры</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2"/>
                  </a:ext>
                </a:extLst>
              </a:tr>
              <a:tr h="427990">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Ручная проверка</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Каждое утверждение ищется в статье</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A1A1A"/>
                          </a:solidFill>
                          <a:latin typeface="Arial" pitchFamily="34" charset="0"/>
                          <a:ea typeface="Arial" pitchFamily="34" charset="-122"/>
                          <a:cs typeface="Arial" pitchFamily="34" charset="-120"/>
                        </a:rPr>
                        <a:t>Долго</a:t>
                      </a:r>
                      <a:endParaRPr lang="en-US" sz="1400" dirty="0">
                        <a:latin typeface="Arial" charset="0"/>
                        <a:ea typeface="Arial" charset="0"/>
                        <a:cs typeface="Arial" charset="0"/>
                      </a:endParaRPr>
                    </a:p>
                  </a:txBody>
                  <a:tcPr marL="127000" marR="127000" marT="88900" marB="8890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Text 5"/>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Эксперимент: три модели на одной статье</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13</a:t>
            </a:r>
          </a:p>
        </p:txBody>
      </p:sp>
      <p:sp>
        <p:nvSpPr>
          <p:cNvPr id="5" name="TextBox 4"/>
          <p:cNvSpPr txBox="1"/>
          <p:nvPr/>
        </p:nvSpPr>
        <p:spPr>
          <a:xfrm>
            <a:off x="812800" y="1400000"/>
            <a:ext cx="10566400" cy="700000"/>
          </a:xfrm>
          <a:prstGeom prst="rect">
            <a:avLst/>
          </a:prstGeom>
          <a:noFill/>
        </p:spPr>
        <p:txBody>
          <a:bodyPr wrap="square" lIns="0" tIns="0" rIns="0" bIns="0" anchor="t">
            <a:spAutoFit/>
          </a:bodyPr>
          <a:lstStyle/>
          <a:p>
            <a:pPr algn="l">
              <a:lnSpc>
                <a:spcPts val="2200"/>
              </a:lnSpc>
            </a:pPr>
            <a:r>
              <a:rPr sz="1600" b="1" i="0">
                <a:solidFill>
                  <a:srgbClr val="1A1A1A"/>
                </a:solidFill>
                <a:latin typeface="Arial"/>
                <a:ea typeface="Arial"/>
                <a:cs typeface="Arial"/>
              </a:rPr>
              <a:t>Статья: </a:t>
            </a:r>
            <a:r>
              <a:rPr sz="1600" b="0" i="1">
                <a:solidFill>
                  <a:srgbClr val="1A1A1A"/>
                </a:solidFill>
                <a:latin typeface="Arial"/>
                <a:ea typeface="Arial"/>
                <a:cs typeface="Arial"/>
              </a:rPr>
              <a:t>Optimal Control Selection for Stabilizing the Inverted Pendulum Problem Using Neural Network Method</a:t>
            </a:r>
          </a:p>
          <a:p>
            <a:pPr algn="l">
              <a:lnSpc>
                <a:spcPts val="2200"/>
              </a:lnSpc>
            </a:pPr>
            <a:r>
              <a:rPr sz="1400" b="0" i="0">
                <a:solidFill>
                  <a:srgbClr val="555555"/>
                </a:solidFill>
                <a:latin typeface="Arial"/>
                <a:ea typeface="Arial"/>
                <a:cs typeface="Arial"/>
              </a:rPr>
              <a:t>Optical Memory and Neural Networks, 2023. Эталон: авторская аннотация из журнала.</a:t>
            </a:r>
          </a:p>
        </p:txBody>
      </p:sp>
      <p:sp>
        <p:nvSpPr>
          <p:cNvPr id="6" name="Rectangle 5"/>
          <p:cNvSpPr/>
          <p:nvPr/>
        </p:nvSpPr>
        <p:spPr>
          <a:xfrm>
            <a:off x="812800" y="2550000"/>
            <a:ext cx="2900000" cy="1600000"/>
          </a:xfrm>
          <a:prstGeom prst="rect">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lnSpc>
                <a:spcPts val="2200"/>
              </a:lnSpc>
            </a:pPr>
            <a:r>
              <a:rPr sz="1700" b="1" i="0">
                <a:solidFill>
                  <a:srgbClr val="1F3A68"/>
                </a:solidFill>
                <a:latin typeface="Arial"/>
                <a:ea typeface="Arial"/>
                <a:cs typeface="Arial"/>
              </a:rPr>
              <a:t>Текст статьи</a:t>
            </a:r>
          </a:p>
          <a:p>
            <a:pPr algn="ctr">
              <a:lnSpc>
                <a:spcPts val="2200"/>
              </a:lnSpc>
            </a:pPr>
            <a:r>
              <a:rPr sz="1500" b="0" i="0">
                <a:solidFill>
                  <a:srgbClr val="555555"/>
                </a:solidFill>
                <a:latin typeface="Arial"/>
                <a:ea typeface="Arial"/>
                <a:cs typeface="Arial"/>
              </a:rPr>
              <a:t>без аннотации</a:t>
            </a:r>
          </a:p>
        </p:txBody>
      </p:sp>
      <p:sp>
        <p:nvSpPr>
          <p:cNvPr id="7" name="Rectangle 6"/>
          <p:cNvSpPr/>
          <p:nvPr/>
        </p:nvSpPr>
        <p:spPr>
          <a:xfrm>
            <a:off x="4646000" y="2550000"/>
            <a:ext cx="2900000" cy="1600000"/>
          </a:xfrm>
          <a:prstGeom prst="rect">
            <a:avLst/>
          </a:prstGeom>
          <a:solidFill>
            <a:srgbClr val="FFFFFF"/>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lnSpc>
                <a:spcPts val="2400"/>
              </a:lnSpc>
            </a:pPr>
            <a:r>
              <a:rPr sz="1600" b="1" i="0">
                <a:solidFill>
                  <a:srgbClr val="1F3A68"/>
                </a:solidFill>
                <a:latin typeface="Arial"/>
                <a:ea typeface="Arial"/>
                <a:cs typeface="Arial"/>
              </a:rPr>
              <a:t>Claude Sonnet</a:t>
            </a:r>
          </a:p>
          <a:p>
            <a:pPr algn="ctr">
              <a:lnSpc>
                <a:spcPts val="2400"/>
              </a:lnSpc>
            </a:pPr>
            <a:r>
              <a:rPr sz="1600" b="1" i="0">
                <a:solidFill>
                  <a:srgbClr val="1F3A68"/>
                </a:solidFill>
                <a:latin typeface="Arial"/>
                <a:ea typeface="Arial"/>
                <a:cs typeface="Arial"/>
              </a:rPr>
              <a:t>DeepSeek</a:t>
            </a:r>
          </a:p>
          <a:p>
            <a:pPr algn="ctr">
              <a:lnSpc>
                <a:spcPts val="2400"/>
              </a:lnSpc>
            </a:pPr>
            <a:r>
              <a:rPr sz="1600" b="1" i="0">
                <a:solidFill>
                  <a:srgbClr val="1F3A68"/>
                </a:solidFill>
                <a:latin typeface="Arial"/>
                <a:ea typeface="Arial"/>
                <a:cs typeface="Arial"/>
              </a:rPr>
              <a:t>ChatGPT</a:t>
            </a:r>
          </a:p>
        </p:txBody>
      </p:sp>
      <p:sp>
        <p:nvSpPr>
          <p:cNvPr id="8" name="Rectangle 7"/>
          <p:cNvSpPr/>
          <p:nvPr/>
        </p:nvSpPr>
        <p:spPr>
          <a:xfrm>
            <a:off x="8479200" y="2550000"/>
            <a:ext cx="2900000" cy="1600000"/>
          </a:xfrm>
          <a:prstGeom prst="rect">
            <a:avLst/>
          </a:prstGeom>
          <a:solidFill>
            <a:srgbClr val="FFFFFF"/>
          </a:solidFill>
          <a:ln w="12700">
            <a:solidFill>
              <a:srgbClr val="C2571A"/>
            </a:solid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lnSpc>
                <a:spcPts val="2200"/>
              </a:lnSpc>
            </a:pPr>
            <a:r>
              <a:rPr sz="1700" b="1" i="0">
                <a:solidFill>
                  <a:srgbClr val="C2571A"/>
                </a:solidFill>
                <a:latin typeface="Arial"/>
                <a:ea typeface="Arial"/>
                <a:cs typeface="Arial"/>
              </a:rPr>
              <a:t>Сравнение</a:t>
            </a:r>
          </a:p>
          <a:p>
            <a:pPr algn="ctr">
              <a:lnSpc>
                <a:spcPts val="2200"/>
              </a:lnSpc>
            </a:pPr>
            <a:r>
              <a:rPr sz="1500" b="0" i="0">
                <a:solidFill>
                  <a:srgbClr val="555555"/>
                </a:solidFill>
                <a:latin typeface="Arial"/>
                <a:ea typeface="Arial"/>
                <a:cs typeface="Arial"/>
              </a:rPr>
              <a:t>с авторской аннотацией</a:t>
            </a:r>
          </a:p>
        </p:txBody>
      </p:sp>
      <p:sp>
        <p:nvSpPr>
          <p:cNvPr id="9" name="TextBox 8"/>
          <p:cNvSpPr txBox="1"/>
          <p:nvPr/>
        </p:nvSpPr>
        <p:spPr>
          <a:xfrm>
            <a:off x="3712800" y="3120000"/>
            <a:ext cx="933200" cy="400000"/>
          </a:xfrm>
          <a:prstGeom prst="rect">
            <a:avLst/>
          </a:prstGeom>
          <a:noFill/>
        </p:spPr>
        <p:txBody>
          <a:bodyPr wrap="square" lIns="0" tIns="0" rIns="0" bIns="0" anchor="t">
            <a:spAutoFit/>
          </a:bodyPr>
          <a:lstStyle/>
          <a:p>
            <a:pPr algn="ctr"/>
            <a:r>
              <a:rPr sz="2400" b="0" i="0">
                <a:solidFill>
                  <a:srgbClr val="7F7F7F"/>
                </a:solidFill>
                <a:latin typeface="Arial"/>
                <a:ea typeface="Arial"/>
                <a:cs typeface="Arial"/>
              </a:rPr>
              <a:t>→</a:t>
            </a:r>
          </a:p>
        </p:txBody>
      </p:sp>
      <p:sp>
        <p:nvSpPr>
          <p:cNvPr id="10" name="TextBox 9"/>
          <p:cNvSpPr txBox="1"/>
          <p:nvPr/>
        </p:nvSpPr>
        <p:spPr>
          <a:xfrm>
            <a:off x="7546000" y="3120000"/>
            <a:ext cx="933200" cy="400000"/>
          </a:xfrm>
          <a:prstGeom prst="rect">
            <a:avLst/>
          </a:prstGeom>
          <a:noFill/>
        </p:spPr>
        <p:txBody>
          <a:bodyPr wrap="square" lIns="0" tIns="0" rIns="0" bIns="0" anchor="t">
            <a:spAutoFit/>
          </a:bodyPr>
          <a:lstStyle/>
          <a:p>
            <a:pPr algn="ctr"/>
            <a:r>
              <a:rPr sz="2400" b="0" i="0">
                <a:solidFill>
                  <a:srgbClr val="7F7F7F"/>
                </a:solidFill>
                <a:latin typeface="Arial"/>
                <a:ea typeface="Arial"/>
                <a:cs typeface="Arial"/>
              </a:rPr>
              <a:t>→</a:t>
            </a:r>
          </a:p>
        </p:txBody>
      </p:sp>
      <p:sp>
        <p:nvSpPr>
          <p:cNvPr id="11" name="TextBox 10"/>
          <p:cNvSpPr txBox="1"/>
          <p:nvPr/>
        </p:nvSpPr>
        <p:spPr>
          <a:xfrm>
            <a:off x="4646000" y="2220000"/>
            <a:ext cx="2900000" cy="280000"/>
          </a:xfrm>
          <a:prstGeom prst="rect">
            <a:avLst/>
          </a:prstGeom>
          <a:noFill/>
        </p:spPr>
        <p:txBody>
          <a:bodyPr wrap="square" lIns="0" tIns="0" rIns="0" bIns="0" anchor="t">
            <a:spAutoFit/>
          </a:bodyPr>
          <a:lstStyle/>
          <a:p>
            <a:pPr algn="ctr"/>
            <a:r>
              <a:rPr sz="1300" b="0" i="1">
                <a:solidFill>
                  <a:srgbClr val="555555"/>
                </a:solidFill>
                <a:latin typeface="Arial"/>
                <a:ea typeface="Arial"/>
                <a:cs typeface="Arial"/>
              </a:rPr>
              <a:t>один и тот же промпт</a:t>
            </a:r>
          </a:p>
        </p:txBody>
      </p:sp>
      <p:sp>
        <p:nvSpPr>
          <p:cNvPr id="12" name="TextBox 11"/>
          <p:cNvSpPr txBox="1"/>
          <p:nvPr/>
        </p:nvSpPr>
        <p:spPr>
          <a:xfrm>
            <a:off x="812800" y="4450000"/>
            <a:ext cx="10566400" cy="1600000"/>
          </a:xfrm>
          <a:prstGeom prst="rect">
            <a:avLst/>
          </a:prstGeom>
          <a:noFill/>
        </p:spPr>
        <p:txBody>
          <a:bodyPr wrap="square" lIns="0" tIns="0" rIns="0" bIns="0" anchor="t">
            <a:spAutoFit/>
          </a:bodyPr>
          <a:lstStyle/>
          <a:p>
            <a:pPr marL="285750" indent="-285750" algn="l">
              <a:lnSpc>
                <a:spcPts val="2160"/>
              </a:lnSpc>
              <a:spcAft>
                <a:spcPts val="800"/>
              </a:spcAft>
              <a:buChar char="•"/>
            </a:pPr>
            <a:r>
              <a:rPr sz="1600" b="0" i="0">
                <a:solidFill>
                  <a:srgbClr val="1A1A1A"/>
                </a:solidFill>
                <a:latin typeface="Arial"/>
                <a:ea typeface="Arial"/>
                <a:cs typeface="Arial"/>
              </a:rPr>
              <a:t>Всем моделям даётся один и тот же промпт и один и тот же текст</a:t>
            </a:r>
          </a:p>
          <a:p>
            <a:pPr marL="285750" indent="-285750" algn="l">
              <a:lnSpc>
                <a:spcPts val="2160"/>
              </a:lnSpc>
              <a:spcAft>
                <a:spcPts val="800"/>
              </a:spcAft>
              <a:buChar char="•"/>
            </a:pPr>
            <a:r>
              <a:rPr sz="1600" b="0" i="0">
                <a:solidFill>
                  <a:srgbClr val="1A1A1A"/>
                </a:solidFill>
                <a:latin typeface="Arial"/>
                <a:ea typeface="Arial"/>
                <a:cs typeface="Arial"/>
              </a:rPr>
              <a:t>Каждая модель запускается в новом чате, без истории</a:t>
            </a:r>
          </a:p>
          <a:p>
            <a:pPr marL="285750" indent="-285750" algn="l">
              <a:lnSpc>
                <a:spcPts val="2160"/>
              </a:lnSpc>
              <a:spcAft>
                <a:spcPts val="800"/>
              </a:spcAft>
              <a:buChar char="•"/>
            </a:pPr>
            <a:r>
              <a:rPr sz="1600" b="0" i="0">
                <a:solidFill>
                  <a:srgbClr val="1A1A1A"/>
                </a:solidFill>
                <a:latin typeface="Arial"/>
                <a:ea typeface="Arial"/>
                <a:cs typeface="Arial"/>
              </a:rPr>
              <a:t>Авторская аннотация из текста удалена, она служит эталоном</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Промпт для эксперимента</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14</a:t>
            </a:r>
          </a:p>
        </p:txBody>
      </p:sp>
      <p:sp>
        <p:nvSpPr>
          <p:cNvPr id="5" name="Rectangle 4"/>
          <p:cNvSpPr/>
          <p:nvPr/>
        </p:nvSpPr>
        <p:spPr>
          <a:xfrm>
            <a:off x="812800" y="1399542"/>
            <a:ext cx="6450000" cy="4750000"/>
          </a:xfrm>
          <a:prstGeom prst="rect">
            <a:avLst/>
          </a:prstGeom>
          <a:solidFill>
            <a:srgbClr val="FAFAFA"/>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260000" tIns="220000" rIns="260000" bIns="220000" rtlCol="0" anchor="t"/>
          <a:lstStyle/>
          <a:p>
            <a:pPr algn="l">
              <a:lnSpc>
                <a:spcPts val="1950"/>
              </a:lnSpc>
            </a:pPr>
            <a:r>
              <a:rPr sz="1500" b="0" i="0" dirty="0" err="1">
                <a:solidFill>
                  <a:srgbClr val="1A1A1A"/>
                </a:solidFill>
                <a:latin typeface="Courier New"/>
                <a:ea typeface="Courier New"/>
                <a:cs typeface="Courier New"/>
              </a:rPr>
              <a:t>Ты</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научный</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редактор</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журнала</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по</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теории</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управления</a:t>
            </a:r>
            <a:r>
              <a:rPr sz="1500" b="0" i="0" dirty="0">
                <a:solidFill>
                  <a:srgbClr val="1A1A1A"/>
                </a:solidFill>
                <a:latin typeface="Courier New"/>
                <a:ea typeface="Courier New"/>
                <a:cs typeface="Courier New"/>
              </a:rPr>
              <a:t>.</a:t>
            </a:r>
          </a:p>
          <a:p>
            <a:pPr algn="l">
              <a:lnSpc>
                <a:spcPts val="1950"/>
              </a:lnSpc>
            </a:pPr>
            <a:r>
              <a:rPr sz="1500" b="0" i="0" dirty="0" err="1">
                <a:solidFill>
                  <a:srgbClr val="1A1A1A"/>
                </a:solidFill>
                <a:latin typeface="Courier New"/>
                <a:ea typeface="Courier New"/>
                <a:cs typeface="Courier New"/>
              </a:rPr>
              <a:t>Напиши</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аннотацию</a:t>
            </a:r>
            <a:r>
              <a:rPr sz="1500" b="0" i="0" dirty="0">
                <a:solidFill>
                  <a:srgbClr val="1A1A1A"/>
                </a:solidFill>
                <a:latin typeface="Courier New"/>
                <a:ea typeface="Courier New"/>
                <a:cs typeface="Courier New"/>
              </a:rPr>
              <a:t> (abstract) к </a:t>
            </a:r>
            <a:r>
              <a:rPr sz="1500" b="0" i="0" dirty="0" err="1">
                <a:solidFill>
                  <a:srgbClr val="1A1A1A"/>
                </a:solidFill>
                <a:latin typeface="Courier New"/>
                <a:ea typeface="Courier New"/>
                <a:cs typeface="Courier New"/>
              </a:rPr>
              <a:t>статье</a:t>
            </a:r>
            <a:r>
              <a:rPr sz="1500" b="0" i="0" dirty="0">
                <a:solidFill>
                  <a:srgbClr val="1A1A1A"/>
                </a:solidFill>
                <a:latin typeface="Courier New"/>
                <a:ea typeface="Courier New"/>
                <a:cs typeface="Courier New"/>
              </a:rPr>
              <a:t> </a:t>
            </a:r>
            <a:r>
              <a:rPr sz="1500" b="0" i="0" dirty="0" err="1">
                <a:solidFill>
                  <a:srgbClr val="1A1A1A"/>
                </a:solidFill>
                <a:latin typeface="Courier New"/>
                <a:ea typeface="Courier New"/>
                <a:cs typeface="Courier New"/>
              </a:rPr>
              <a:t>ниже</a:t>
            </a:r>
            <a:r>
              <a:rPr sz="1500" b="0" i="0" dirty="0">
                <a:solidFill>
                  <a:srgbClr val="1A1A1A"/>
                </a:solidFill>
                <a:latin typeface="Courier New"/>
                <a:ea typeface="Courier New"/>
                <a:cs typeface="Courier New"/>
              </a:rPr>
              <a:t>.</a:t>
            </a:r>
          </a:p>
          <a:p>
            <a:pPr algn="l">
              <a:lnSpc>
                <a:spcPts val="1950"/>
              </a:lnSpc>
            </a:pPr>
            <a:r>
              <a:rPr sz="1500" b="0" i="0" dirty="0">
                <a:solidFill>
                  <a:srgbClr val="1A1A1A"/>
                </a:solidFill>
                <a:latin typeface="Courier New"/>
                <a:ea typeface="Courier New"/>
                <a:cs typeface="Courier New"/>
              </a:rPr>
              <a:t> </a:t>
            </a:r>
          </a:p>
          <a:p>
            <a:pPr algn="l">
              <a:lnSpc>
                <a:spcPts val="1950"/>
              </a:lnSpc>
            </a:pPr>
            <a:r>
              <a:rPr sz="1500" b="1" i="0" dirty="0" err="1">
                <a:solidFill>
                  <a:srgbClr val="1F5FAD"/>
                </a:solidFill>
                <a:latin typeface="Courier New"/>
                <a:ea typeface="Courier New"/>
                <a:cs typeface="Courier New"/>
              </a:rPr>
              <a:t>Структура</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цель</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метод</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результаты</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вывод</a:t>
            </a:r>
            <a:r>
              <a:rPr sz="1500" b="1" i="0" dirty="0">
                <a:solidFill>
                  <a:srgbClr val="1F5FAD"/>
                </a:solidFill>
                <a:latin typeface="Courier New"/>
                <a:ea typeface="Courier New"/>
                <a:cs typeface="Courier New"/>
              </a:rPr>
              <a:t>.</a:t>
            </a:r>
          </a:p>
          <a:p>
            <a:pPr algn="l">
              <a:lnSpc>
                <a:spcPts val="1950"/>
              </a:lnSpc>
            </a:pPr>
            <a:r>
              <a:rPr sz="1500" b="1" i="0" dirty="0" err="1">
                <a:solidFill>
                  <a:srgbClr val="1F5FAD"/>
                </a:solidFill>
                <a:latin typeface="Courier New"/>
                <a:ea typeface="Courier New"/>
                <a:cs typeface="Courier New"/>
              </a:rPr>
              <a:t>Объём</a:t>
            </a:r>
            <a:r>
              <a:rPr sz="1500" b="1" i="0" dirty="0">
                <a:solidFill>
                  <a:srgbClr val="1F5FAD"/>
                </a:solidFill>
                <a:latin typeface="Courier New"/>
                <a:ea typeface="Courier New"/>
                <a:cs typeface="Courier New"/>
              </a:rPr>
              <a:t> 70-100 </a:t>
            </a:r>
            <a:r>
              <a:rPr sz="1500" b="1" i="0" dirty="0" err="1">
                <a:solidFill>
                  <a:srgbClr val="1F5FAD"/>
                </a:solidFill>
                <a:latin typeface="Courier New"/>
                <a:ea typeface="Courier New"/>
                <a:cs typeface="Courier New"/>
              </a:rPr>
              <a:t>слов</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один</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абзац</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безлично</a:t>
            </a:r>
            <a:r>
              <a:rPr sz="1500" b="1" i="0" dirty="0">
                <a:solidFill>
                  <a:srgbClr val="1F5FAD"/>
                </a:solidFill>
                <a:latin typeface="Courier New"/>
                <a:ea typeface="Courier New"/>
                <a:cs typeface="Courier New"/>
              </a:rPr>
              <a:t>.</a:t>
            </a:r>
          </a:p>
          <a:p>
            <a:pPr algn="l">
              <a:lnSpc>
                <a:spcPts val="1950"/>
              </a:lnSpc>
            </a:pPr>
            <a:r>
              <a:rPr sz="1500" b="1" i="0" dirty="0" err="1">
                <a:solidFill>
                  <a:srgbClr val="1F5FAD"/>
                </a:solidFill>
                <a:latin typeface="Courier New"/>
                <a:ea typeface="Courier New"/>
                <a:cs typeface="Courier New"/>
              </a:rPr>
              <a:t>Язык</a:t>
            </a:r>
            <a:r>
              <a:rPr sz="1500" b="1" i="0" dirty="0">
                <a:solidFill>
                  <a:srgbClr val="1F5FAD"/>
                </a:solidFill>
                <a:latin typeface="Courier New"/>
                <a:ea typeface="Courier New"/>
                <a:cs typeface="Courier New"/>
              </a:rPr>
              <a:t>: </a:t>
            </a:r>
            <a:r>
              <a:rPr sz="1500" b="1" i="0" dirty="0" err="1">
                <a:solidFill>
                  <a:srgbClr val="1F5FAD"/>
                </a:solidFill>
                <a:latin typeface="Courier New"/>
                <a:ea typeface="Courier New"/>
                <a:cs typeface="Courier New"/>
              </a:rPr>
              <a:t>английский</a:t>
            </a:r>
            <a:r>
              <a:rPr sz="1500" b="1" i="0" dirty="0">
                <a:solidFill>
                  <a:srgbClr val="1F5FAD"/>
                </a:solidFill>
                <a:latin typeface="Courier New"/>
                <a:ea typeface="Courier New"/>
                <a:cs typeface="Courier New"/>
              </a:rPr>
              <a:t>.</a:t>
            </a:r>
          </a:p>
          <a:p>
            <a:pPr algn="l">
              <a:lnSpc>
                <a:spcPts val="1950"/>
              </a:lnSpc>
            </a:pPr>
            <a:r>
              <a:rPr sz="1500" b="0" i="0" dirty="0">
                <a:solidFill>
                  <a:srgbClr val="1A1A1A"/>
                </a:solidFill>
                <a:latin typeface="Courier New"/>
                <a:ea typeface="Courier New"/>
                <a:cs typeface="Courier New"/>
              </a:rPr>
              <a:t> </a:t>
            </a:r>
          </a:p>
          <a:p>
            <a:pPr algn="l">
              <a:lnSpc>
                <a:spcPts val="1950"/>
              </a:lnSpc>
            </a:pPr>
            <a:r>
              <a:rPr sz="1500" b="1" i="0" dirty="0" err="1">
                <a:solidFill>
                  <a:srgbClr val="C2571A"/>
                </a:solidFill>
                <a:latin typeface="Courier New"/>
                <a:ea typeface="Courier New"/>
                <a:cs typeface="Courier New"/>
              </a:rPr>
              <a:t>Используй</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только</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факты</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из</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статьи</a:t>
            </a:r>
            <a:r>
              <a:rPr sz="1500" b="1" i="0" dirty="0">
                <a:solidFill>
                  <a:srgbClr val="C2571A"/>
                </a:solidFill>
                <a:latin typeface="Courier New"/>
                <a:ea typeface="Courier New"/>
                <a:cs typeface="Courier New"/>
              </a:rPr>
              <a:t>.</a:t>
            </a:r>
          </a:p>
          <a:p>
            <a:pPr algn="l">
              <a:lnSpc>
                <a:spcPts val="1950"/>
              </a:lnSpc>
            </a:pPr>
            <a:r>
              <a:rPr sz="1500" b="1" i="0" dirty="0" err="1">
                <a:solidFill>
                  <a:srgbClr val="C2571A"/>
                </a:solidFill>
                <a:latin typeface="Courier New"/>
                <a:ea typeface="Courier New"/>
                <a:cs typeface="Courier New"/>
              </a:rPr>
              <a:t>Числа</a:t>
            </a:r>
            <a:r>
              <a:rPr sz="1500" b="1" i="0" dirty="0">
                <a:solidFill>
                  <a:srgbClr val="C2571A"/>
                </a:solidFill>
                <a:latin typeface="Courier New"/>
                <a:ea typeface="Courier New"/>
                <a:cs typeface="Courier New"/>
              </a:rPr>
              <a:t> и </a:t>
            </a:r>
            <a:r>
              <a:rPr sz="1500" b="1" i="0" dirty="0" err="1">
                <a:solidFill>
                  <a:srgbClr val="C2571A"/>
                </a:solidFill>
                <a:latin typeface="Courier New"/>
                <a:ea typeface="Courier New"/>
                <a:cs typeface="Courier New"/>
              </a:rPr>
              <a:t>названия</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методов</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бери</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дословно</a:t>
            </a:r>
            <a:r>
              <a:rPr sz="1500" b="1" i="0" dirty="0">
                <a:solidFill>
                  <a:srgbClr val="C2571A"/>
                </a:solidFill>
                <a:latin typeface="Courier New"/>
                <a:ea typeface="Courier New"/>
                <a:cs typeface="Courier New"/>
              </a:rPr>
              <a:t>.</a:t>
            </a:r>
          </a:p>
          <a:p>
            <a:pPr algn="l">
              <a:lnSpc>
                <a:spcPts val="1950"/>
              </a:lnSpc>
            </a:pPr>
            <a:r>
              <a:rPr sz="1500" b="1" i="0" dirty="0" err="1">
                <a:solidFill>
                  <a:srgbClr val="C2571A"/>
                </a:solidFill>
                <a:latin typeface="Courier New"/>
                <a:ea typeface="Courier New"/>
                <a:cs typeface="Courier New"/>
              </a:rPr>
              <a:t>Чего</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нет</a:t>
            </a:r>
            <a:r>
              <a:rPr sz="1500" b="1" i="0" dirty="0">
                <a:solidFill>
                  <a:srgbClr val="C2571A"/>
                </a:solidFill>
                <a:latin typeface="Courier New"/>
                <a:ea typeface="Courier New"/>
                <a:cs typeface="Courier New"/>
              </a:rPr>
              <a:t> в </a:t>
            </a:r>
            <a:r>
              <a:rPr sz="1500" b="1" i="0" dirty="0" err="1">
                <a:solidFill>
                  <a:srgbClr val="C2571A"/>
                </a:solidFill>
                <a:latin typeface="Courier New"/>
                <a:ea typeface="Courier New"/>
                <a:cs typeface="Courier New"/>
              </a:rPr>
              <a:t>тексте</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не</a:t>
            </a:r>
            <a:r>
              <a:rPr sz="1500" b="1" i="0" dirty="0">
                <a:solidFill>
                  <a:srgbClr val="C2571A"/>
                </a:solidFill>
                <a:latin typeface="Courier New"/>
                <a:ea typeface="Courier New"/>
                <a:cs typeface="Courier New"/>
              </a:rPr>
              <a:t> </a:t>
            </a:r>
            <a:r>
              <a:rPr sz="1500" b="1" i="0" dirty="0" err="1">
                <a:solidFill>
                  <a:srgbClr val="C2571A"/>
                </a:solidFill>
                <a:latin typeface="Courier New"/>
                <a:ea typeface="Courier New"/>
                <a:cs typeface="Courier New"/>
              </a:rPr>
              <a:t>добавляй</a:t>
            </a:r>
            <a:r>
              <a:rPr sz="1500" b="1" i="0" dirty="0">
                <a:solidFill>
                  <a:srgbClr val="C2571A"/>
                </a:solidFill>
                <a:latin typeface="Courier New"/>
                <a:ea typeface="Courier New"/>
                <a:cs typeface="Courier New"/>
              </a:rPr>
              <a:t>.</a:t>
            </a:r>
          </a:p>
          <a:p>
            <a:pPr algn="l">
              <a:lnSpc>
                <a:spcPts val="1950"/>
              </a:lnSpc>
            </a:pPr>
            <a:r>
              <a:rPr sz="1500" b="0" i="0" dirty="0">
                <a:solidFill>
                  <a:srgbClr val="1A1A1A"/>
                </a:solidFill>
                <a:latin typeface="Courier New"/>
                <a:ea typeface="Courier New"/>
                <a:cs typeface="Courier New"/>
              </a:rPr>
              <a:t> </a:t>
            </a:r>
          </a:p>
          <a:p>
            <a:pPr algn="l">
              <a:lnSpc>
                <a:spcPts val="1950"/>
              </a:lnSpc>
            </a:pPr>
            <a:r>
              <a:rPr sz="1500" b="1" i="0" dirty="0" err="1">
                <a:solidFill>
                  <a:srgbClr val="2E7D32"/>
                </a:solidFill>
                <a:latin typeface="Courier New"/>
                <a:ea typeface="Courier New"/>
                <a:cs typeface="Courier New"/>
              </a:rPr>
              <a:t>Перед</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ответом</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сверь</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каждое</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утверждение</a:t>
            </a:r>
            <a:endParaRPr sz="1500" b="1" i="0" dirty="0">
              <a:solidFill>
                <a:srgbClr val="2E7D32"/>
              </a:solidFill>
              <a:latin typeface="Courier New"/>
              <a:ea typeface="Courier New"/>
              <a:cs typeface="Courier New"/>
            </a:endParaRPr>
          </a:p>
          <a:p>
            <a:pPr algn="l">
              <a:lnSpc>
                <a:spcPts val="1950"/>
              </a:lnSpc>
            </a:pPr>
            <a:r>
              <a:rPr sz="1500" b="1" i="0" dirty="0">
                <a:solidFill>
                  <a:srgbClr val="2E7D32"/>
                </a:solidFill>
                <a:latin typeface="Courier New"/>
                <a:ea typeface="Courier New"/>
                <a:cs typeface="Courier New"/>
              </a:rPr>
              <a:t>с </a:t>
            </a:r>
            <a:r>
              <a:rPr sz="1500" b="1" i="0" dirty="0" err="1">
                <a:solidFill>
                  <a:srgbClr val="2E7D32"/>
                </a:solidFill>
                <a:latin typeface="Courier New"/>
                <a:ea typeface="Courier New"/>
                <a:cs typeface="Courier New"/>
              </a:rPr>
              <a:t>текстом</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Выведи</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только</a:t>
            </a:r>
            <a:r>
              <a:rPr sz="1500" b="1" i="0" dirty="0">
                <a:solidFill>
                  <a:srgbClr val="2E7D32"/>
                </a:solidFill>
                <a:latin typeface="Courier New"/>
                <a:ea typeface="Courier New"/>
                <a:cs typeface="Courier New"/>
              </a:rPr>
              <a:t> </a:t>
            </a:r>
            <a:r>
              <a:rPr sz="1500" b="1" i="0" dirty="0" err="1">
                <a:solidFill>
                  <a:srgbClr val="2E7D32"/>
                </a:solidFill>
                <a:latin typeface="Courier New"/>
                <a:ea typeface="Courier New"/>
                <a:cs typeface="Courier New"/>
              </a:rPr>
              <a:t>аннотацию</a:t>
            </a:r>
            <a:r>
              <a:rPr sz="1500" b="1" i="0" dirty="0">
                <a:solidFill>
                  <a:srgbClr val="2E7D32"/>
                </a:solidFill>
                <a:latin typeface="Courier New"/>
                <a:ea typeface="Courier New"/>
                <a:cs typeface="Courier New"/>
              </a:rPr>
              <a:t>.</a:t>
            </a:r>
          </a:p>
          <a:p>
            <a:pPr algn="l">
              <a:lnSpc>
                <a:spcPts val="1950"/>
              </a:lnSpc>
            </a:pPr>
            <a:r>
              <a:rPr sz="1500" b="0" i="0" dirty="0">
                <a:solidFill>
                  <a:srgbClr val="1A1A1A"/>
                </a:solidFill>
                <a:latin typeface="Courier New"/>
                <a:ea typeface="Courier New"/>
                <a:cs typeface="Courier New"/>
              </a:rPr>
              <a:t> </a:t>
            </a:r>
          </a:p>
          <a:p>
            <a:pPr algn="l">
              <a:lnSpc>
                <a:spcPts val="1950"/>
              </a:lnSpc>
            </a:pPr>
            <a:r>
              <a:rPr sz="1500" b="0" i="0" dirty="0" err="1">
                <a:solidFill>
                  <a:srgbClr val="1A1A1A"/>
                </a:solidFill>
                <a:latin typeface="Courier New"/>
                <a:ea typeface="Courier New"/>
                <a:cs typeface="Courier New"/>
              </a:rPr>
              <a:t>Статья</a:t>
            </a:r>
            <a:r>
              <a:rPr sz="1500" b="0" i="0" dirty="0">
                <a:solidFill>
                  <a:srgbClr val="1A1A1A"/>
                </a:solidFill>
                <a:latin typeface="Courier New"/>
                <a:ea typeface="Courier New"/>
                <a:cs typeface="Courier New"/>
              </a:rPr>
              <a:t>:</a:t>
            </a:r>
          </a:p>
          <a:p>
            <a:pPr algn="l">
              <a:lnSpc>
                <a:spcPts val="1950"/>
              </a:lnSpc>
            </a:pPr>
            <a:r>
              <a:rPr sz="1500" b="0" i="0" dirty="0">
                <a:solidFill>
                  <a:srgbClr val="555555"/>
                </a:solidFill>
                <a:latin typeface="Courier New"/>
                <a:ea typeface="Courier New"/>
                <a:cs typeface="Courier New"/>
              </a:rPr>
              <a:t>"""[</a:t>
            </a:r>
            <a:r>
              <a:rPr sz="1500" b="0" i="0" dirty="0" err="1">
                <a:solidFill>
                  <a:srgbClr val="555555"/>
                </a:solidFill>
                <a:latin typeface="Courier New"/>
                <a:ea typeface="Courier New"/>
                <a:cs typeface="Courier New"/>
              </a:rPr>
              <a:t>текст</a:t>
            </a:r>
            <a:r>
              <a:rPr sz="1500" b="0" i="0" dirty="0">
                <a:solidFill>
                  <a:srgbClr val="555555"/>
                </a:solidFill>
                <a:latin typeface="Courier New"/>
                <a:ea typeface="Courier New"/>
                <a:cs typeface="Courier New"/>
              </a:rPr>
              <a:t> </a:t>
            </a:r>
            <a:r>
              <a:rPr sz="1500" b="0" i="0" dirty="0" err="1">
                <a:solidFill>
                  <a:srgbClr val="555555"/>
                </a:solidFill>
                <a:latin typeface="Courier New"/>
                <a:ea typeface="Courier New"/>
                <a:cs typeface="Courier New"/>
              </a:rPr>
              <a:t>статьи</a:t>
            </a:r>
            <a:r>
              <a:rPr sz="1500" b="0" i="0" dirty="0">
                <a:solidFill>
                  <a:srgbClr val="555555"/>
                </a:solidFill>
                <a:latin typeface="Courier New"/>
                <a:ea typeface="Courier New"/>
                <a:cs typeface="Courier New"/>
              </a:rPr>
              <a:t> </a:t>
            </a:r>
            <a:r>
              <a:rPr sz="1500" b="0" i="0" dirty="0" err="1">
                <a:solidFill>
                  <a:srgbClr val="555555"/>
                </a:solidFill>
                <a:latin typeface="Courier New"/>
                <a:ea typeface="Courier New"/>
                <a:cs typeface="Courier New"/>
              </a:rPr>
              <a:t>без</a:t>
            </a:r>
            <a:r>
              <a:rPr sz="1500" b="0" i="0" dirty="0">
                <a:solidFill>
                  <a:srgbClr val="555555"/>
                </a:solidFill>
                <a:latin typeface="Courier New"/>
                <a:ea typeface="Courier New"/>
                <a:cs typeface="Courier New"/>
              </a:rPr>
              <a:t> </a:t>
            </a:r>
            <a:r>
              <a:rPr sz="1500" b="0" i="0" dirty="0" err="1">
                <a:solidFill>
                  <a:srgbClr val="555555"/>
                </a:solidFill>
                <a:latin typeface="Courier New"/>
                <a:ea typeface="Courier New"/>
                <a:cs typeface="Courier New"/>
              </a:rPr>
              <a:t>аннотации</a:t>
            </a:r>
            <a:r>
              <a:rPr sz="1500" b="0" i="0" dirty="0">
                <a:solidFill>
                  <a:srgbClr val="555555"/>
                </a:solidFill>
                <a:latin typeface="Courier New"/>
                <a:ea typeface="Courier New"/>
                <a:cs typeface="Courier New"/>
              </a:rPr>
              <a:t>]"""</a:t>
            </a:r>
          </a:p>
        </p:txBody>
      </p:sp>
      <p:sp>
        <p:nvSpPr>
          <p:cNvPr id="6" name="Rectangle 5"/>
          <p:cNvSpPr/>
          <p:nvPr/>
        </p:nvSpPr>
        <p:spPr>
          <a:xfrm>
            <a:off x="7600000" y="1439542"/>
            <a:ext cx="228600" cy="2286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7" name="TextBox 6"/>
          <p:cNvSpPr txBox="1"/>
          <p:nvPr/>
        </p:nvSpPr>
        <p:spPr>
          <a:xfrm>
            <a:off x="7955600" y="1399542"/>
            <a:ext cx="3423600" cy="900000"/>
          </a:xfrm>
          <a:prstGeom prst="rect">
            <a:avLst/>
          </a:prstGeom>
          <a:noFill/>
        </p:spPr>
        <p:txBody>
          <a:bodyPr wrap="square" lIns="0" tIns="0" rIns="0" bIns="0" anchor="t">
            <a:spAutoFit/>
          </a:bodyPr>
          <a:lstStyle/>
          <a:p>
            <a:pPr algn="l">
              <a:lnSpc>
                <a:spcPts val="2000"/>
              </a:lnSpc>
            </a:pPr>
            <a:r>
              <a:rPr sz="1700" b="1" i="0">
                <a:solidFill>
                  <a:srgbClr val="1F5FAD"/>
                </a:solidFill>
                <a:latin typeface="Arial"/>
                <a:ea typeface="Arial"/>
                <a:cs typeface="Arial"/>
              </a:rPr>
              <a:t>Структура и объём</a:t>
            </a:r>
          </a:p>
          <a:p>
            <a:pPr algn="l">
              <a:lnSpc>
                <a:spcPts val="2000"/>
              </a:lnSpc>
            </a:pPr>
            <a:r>
              <a:rPr sz="1400" b="0" i="0">
                <a:solidFill>
                  <a:srgbClr val="555555"/>
                </a:solidFill>
                <a:latin typeface="Arial"/>
                <a:ea typeface="Arial"/>
                <a:cs typeface="Arial"/>
              </a:rPr>
              <a:t>объём как у авторской аннотации (около 80 слов), язык тоже её</a:t>
            </a:r>
          </a:p>
        </p:txBody>
      </p:sp>
      <p:sp>
        <p:nvSpPr>
          <p:cNvPr id="8" name="Rectangle 7"/>
          <p:cNvSpPr/>
          <p:nvPr/>
        </p:nvSpPr>
        <p:spPr>
          <a:xfrm>
            <a:off x="7600000" y="2439542"/>
            <a:ext cx="228600" cy="228600"/>
          </a:xfrm>
          <a:prstGeom prst="rect">
            <a:avLst/>
          </a:prstGeom>
          <a:solidFill>
            <a:srgbClr val="C2571A"/>
          </a:solid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9" name="TextBox 8"/>
          <p:cNvSpPr txBox="1"/>
          <p:nvPr/>
        </p:nvSpPr>
        <p:spPr>
          <a:xfrm>
            <a:off x="7955600" y="2399542"/>
            <a:ext cx="3423600" cy="900000"/>
          </a:xfrm>
          <a:prstGeom prst="rect">
            <a:avLst/>
          </a:prstGeom>
          <a:noFill/>
        </p:spPr>
        <p:txBody>
          <a:bodyPr wrap="square" lIns="0" tIns="0" rIns="0" bIns="0" anchor="t">
            <a:spAutoFit/>
          </a:bodyPr>
          <a:lstStyle/>
          <a:p>
            <a:pPr algn="l">
              <a:lnSpc>
                <a:spcPts val="2000"/>
              </a:lnSpc>
            </a:pPr>
            <a:r>
              <a:rPr sz="1700" b="1" i="0">
                <a:solidFill>
                  <a:srgbClr val="C2571A"/>
                </a:solidFill>
                <a:latin typeface="Arial"/>
                <a:ea typeface="Arial"/>
                <a:cs typeface="Arial"/>
              </a:rPr>
              <a:t>Правила по фактам</a:t>
            </a:r>
          </a:p>
          <a:p>
            <a:pPr algn="l">
              <a:lnSpc>
                <a:spcPts val="2000"/>
              </a:lnSpc>
            </a:pPr>
            <a:r>
              <a:rPr sz="1400" b="0" i="0">
                <a:solidFill>
                  <a:srgbClr val="555555"/>
                </a:solidFill>
                <a:latin typeface="Arial"/>
                <a:ea typeface="Arial"/>
                <a:cs typeface="Arial"/>
              </a:rPr>
              <a:t>запрет добавлять то, чего нет в статье</a:t>
            </a:r>
          </a:p>
        </p:txBody>
      </p:sp>
      <p:sp>
        <p:nvSpPr>
          <p:cNvPr id="10" name="Rectangle 9"/>
          <p:cNvSpPr/>
          <p:nvPr/>
        </p:nvSpPr>
        <p:spPr>
          <a:xfrm>
            <a:off x="7600000" y="3439542"/>
            <a:ext cx="228600" cy="228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wrap="square" lIns="120000" tIns="80000" rIns="120000" bIns="80000" rtlCol="0" anchor="ctr"/>
          <a:lstStyle/>
          <a:p>
            <a:pPr algn="ctr"/>
            <a:endParaRPr/>
          </a:p>
        </p:txBody>
      </p:sp>
      <p:sp>
        <p:nvSpPr>
          <p:cNvPr id="11" name="TextBox 10"/>
          <p:cNvSpPr txBox="1"/>
          <p:nvPr/>
        </p:nvSpPr>
        <p:spPr>
          <a:xfrm>
            <a:off x="7955600" y="3399542"/>
            <a:ext cx="3423600" cy="900000"/>
          </a:xfrm>
          <a:prstGeom prst="rect">
            <a:avLst/>
          </a:prstGeom>
          <a:noFill/>
        </p:spPr>
        <p:txBody>
          <a:bodyPr wrap="square" lIns="0" tIns="0" rIns="0" bIns="0" anchor="t">
            <a:spAutoFit/>
          </a:bodyPr>
          <a:lstStyle/>
          <a:p>
            <a:pPr algn="l">
              <a:lnSpc>
                <a:spcPts val="2000"/>
              </a:lnSpc>
            </a:pPr>
            <a:r>
              <a:rPr sz="1700" b="1" i="0">
                <a:solidFill>
                  <a:srgbClr val="2E7D32"/>
                </a:solidFill>
                <a:latin typeface="Arial"/>
                <a:ea typeface="Arial"/>
                <a:cs typeface="Arial"/>
              </a:rPr>
              <a:t>Самопроверка</a:t>
            </a:r>
          </a:p>
          <a:p>
            <a:pPr algn="l">
              <a:lnSpc>
                <a:spcPts val="2000"/>
              </a:lnSpc>
            </a:pPr>
            <a:r>
              <a:rPr sz="1400" b="0" i="0">
                <a:solidFill>
                  <a:srgbClr val="555555"/>
                </a:solidFill>
                <a:latin typeface="Arial"/>
                <a:ea typeface="Arial"/>
                <a:cs typeface="Arial"/>
              </a:rPr>
              <a:t>модель сама сверяет аннотацию с текстом</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Как сравниваем: метрики</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15</a:t>
            </a:r>
          </a:p>
        </p:txBody>
      </p:sp>
      <p:graphicFrame>
        <p:nvGraphicFramePr>
          <p:cNvPr id="5" name="Table 4"/>
          <p:cNvGraphicFramePr>
            <a:graphicFrameLocks noGrp="1"/>
          </p:cNvGraphicFramePr>
          <p:nvPr/>
        </p:nvGraphicFramePr>
        <p:xfrm>
          <a:off x="812800" y="1399542"/>
          <a:ext cx="10566400" cy="2851600"/>
        </p:xfrm>
        <a:graphic>
          <a:graphicData uri="http://schemas.openxmlformats.org/drawingml/2006/table">
            <a:tbl>
              <a:tblPr/>
              <a:tblGrid>
                <a:gridCol w="2200000">
                  <a:extLst>
                    <a:ext uri="{9D8B030D-6E8A-4147-A177-3AD203B41FA5}">
                      <a16:colId xmlns:a16="http://schemas.microsoft.com/office/drawing/2014/main" val="20000"/>
                    </a:ext>
                  </a:extLst>
                </a:gridCol>
                <a:gridCol w="3950000">
                  <a:extLst>
                    <a:ext uri="{9D8B030D-6E8A-4147-A177-3AD203B41FA5}">
                      <a16:colId xmlns:a16="http://schemas.microsoft.com/office/drawing/2014/main" val="20001"/>
                    </a:ext>
                  </a:extLst>
                </a:gridCol>
                <a:gridCol w="3200000">
                  <a:extLst>
                    <a:ext uri="{9D8B030D-6E8A-4147-A177-3AD203B41FA5}">
                      <a16:colId xmlns:a16="http://schemas.microsoft.com/office/drawing/2014/main" val="20002"/>
                    </a:ext>
                  </a:extLst>
                </a:gridCol>
                <a:gridCol w="1216400">
                  <a:extLst>
                    <a:ext uri="{9D8B030D-6E8A-4147-A177-3AD203B41FA5}">
                      <a16:colId xmlns:a16="http://schemas.microsoft.com/office/drawing/2014/main" val="20003"/>
                    </a:ext>
                  </a:extLst>
                </a:gridCol>
              </a:tblGrid>
              <a:tr h="560000">
                <a:tc>
                  <a:txBody>
                    <a:bodyPr/>
                    <a:lstStyle/>
                    <a:p>
                      <a:pPr algn="l"/>
                      <a:r>
                        <a:rPr sz="1500" b="1" i="0">
                          <a:solidFill>
                            <a:srgbClr val="1A1A1A"/>
                          </a:solidFill>
                          <a:latin typeface="Arial"/>
                          <a:ea typeface="Arial"/>
                          <a:cs typeface="Arial"/>
                        </a:rPr>
                        <a:t>Метрика</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500" b="1" i="0">
                          <a:solidFill>
                            <a:srgbClr val="1A1A1A"/>
                          </a:solidFill>
                          <a:latin typeface="Arial"/>
                          <a:ea typeface="Arial"/>
                          <a:cs typeface="Arial"/>
                        </a:rPr>
                        <a:t>Что показывает</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500" b="1" i="0">
                          <a:solidFill>
                            <a:srgbClr val="1A1A1A"/>
                          </a:solidFill>
                          <a:latin typeface="Arial"/>
                          <a:ea typeface="Arial"/>
                          <a:cs typeface="Arial"/>
                        </a:rPr>
                        <a:t>Как считаем</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500" b="1" i="0">
                          <a:solidFill>
                            <a:srgbClr val="1A1A1A"/>
                          </a:solidFill>
                          <a:latin typeface="Arial"/>
                          <a:ea typeface="Arial"/>
                          <a:cs typeface="Arial"/>
                        </a:rPr>
                        <a:t>Хорошо</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extLst>
                  <a:ext uri="{0D108BD9-81ED-4DB2-BD59-A6C34878D82A}">
                    <a16:rowId xmlns:a16="http://schemas.microsoft.com/office/drawing/2014/main" val="10000"/>
                  </a:ext>
                </a:extLst>
              </a:tr>
              <a:tr h="560000">
                <a:tc>
                  <a:txBody>
                    <a:bodyPr/>
                    <a:lstStyle/>
                    <a:p>
                      <a:pPr algn="l"/>
                      <a:r>
                        <a:rPr sz="1500" b="0" i="0">
                          <a:solidFill>
                            <a:srgbClr val="1A1A1A"/>
                          </a:solidFill>
                          <a:latin typeface="Arial"/>
                          <a:ea typeface="Arial"/>
                          <a:cs typeface="Arial"/>
                        </a:rPr>
                        <a:t>ROUGE-1 (F1)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Доля общих слов с авторской аннотацией</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Онлайн-калькулятор</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выше</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1"/>
                  </a:ext>
                </a:extLst>
              </a:tr>
              <a:tr h="560000">
                <a:tc>
                  <a:txBody>
                    <a:bodyPr/>
                    <a:lstStyle/>
                    <a:p>
                      <a:pPr algn="l"/>
                      <a:r>
                        <a:rPr sz="1500" b="0" i="0">
                          <a:solidFill>
                            <a:srgbClr val="1A1A1A"/>
                          </a:solidFill>
                          <a:latin typeface="Arial"/>
                          <a:ea typeface="Arial"/>
                          <a:cs typeface="Arial"/>
                        </a:rPr>
                        <a:t>ROUGE-L (F1)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Общие цепочки слов в том же порядке</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Онлайн-калькулятор</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выше</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2"/>
                  </a:ext>
                </a:extLst>
              </a:tr>
              <a:tr h="560000">
                <a:tc>
                  <a:txBody>
                    <a:bodyPr/>
                    <a:lstStyle/>
                    <a:p>
                      <a:pPr algn="l"/>
                      <a:r>
                        <a:rPr sz="1500" b="0" i="0">
                          <a:solidFill>
                            <a:srgbClr val="1A1A1A"/>
                          </a:solidFill>
                          <a:latin typeface="Arial"/>
                          <a:ea typeface="Arial"/>
                          <a:cs typeface="Arial"/>
                        </a:rPr>
                        <a:t>Точность фактов</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Доля утверждений, которые подтверждаются статьёй</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Вручную: каждое утверждение ищем в тексте</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100%</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3"/>
                  </a:ext>
                </a:extLst>
              </a:tr>
              <a:tr h="560000">
                <a:tc>
                  <a:txBody>
                    <a:bodyPr/>
                    <a:lstStyle/>
                    <a:p>
                      <a:pPr algn="l"/>
                      <a:r>
                        <a:rPr sz="1500" b="0" i="0">
                          <a:solidFill>
                            <a:srgbClr val="1A1A1A"/>
                          </a:solidFill>
                          <a:latin typeface="Arial"/>
                          <a:ea typeface="Arial"/>
                          <a:cs typeface="Arial"/>
                        </a:rPr>
                        <a:t>Галлюцинации</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Сколько выдуманных чисел, методов, выводов</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Вручную</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0</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812800" y="4500000"/>
            <a:ext cx="10566400" cy="800000"/>
          </a:xfrm>
          <a:prstGeom prst="rect">
            <a:avLst/>
          </a:prstGeom>
          <a:noFill/>
        </p:spPr>
        <p:txBody>
          <a:bodyPr wrap="square" lIns="0" tIns="0" rIns="0" bIns="0" anchor="t">
            <a:spAutoFit/>
          </a:bodyPr>
          <a:lstStyle/>
          <a:p>
            <a:pPr algn="l">
              <a:lnSpc>
                <a:spcPts val="2200"/>
              </a:lnSpc>
            </a:pPr>
            <a:r>
              <a:rPr sz="1600" b="1" i="0">
                <a:solidFill>
                  <a:srgbClr val="1A1A1A"/>
                </a:solidFill>
                <a:latin typeface="Arial"/>
                <a:ea typeface="Arial"/>
                <a:cs typeface="Arial"/>
              </a:rPr>
              <a:t>Главная метрика: точность фактов. </a:t>
            </a:r>
            <a:r>
              <a:rPr sz="1600" b="0" i="0">
                <a:solidFill>
                  <a:srgbClr val="1A1A1A"/>
                </a:solidFill>
                <a:latin typeface="Arial"/>
                <a:ea typeface="Arial"/>
                <a:cs typeface="Arial"/>
              </a:rPr>
              <a:t>ROUGE показывает, насколько текст похож на авторский, но не проверяет, правдив ли он.</a:t>
            </a:r>
          </a:p>
        </p:txBody>
      </p:sp>
      <p:sp>
        <p:nvSpPr>
          <p:cNvPr id="7" name="TextBox 6"/>
          <p:cNvSpPr txBox="1"/>
          <p:nvPr/>
        </p:nvSpPr>
        <p:spPr>
          <a:xfrm>
            <a:off x="812800" y="5450000"/>
            <a:ext cx="10566400" cy="300000"/>
          </a:xfrm>
          <a:prstGeom prst="rect">
            <a:avLst/>
          </a:prstGeom>
          <a:noFill/>
        </p:spPr>
        <p:txBody>
          <a:bodyPr wrap="square" lIns="0" tIns="0" rIns="0" bIns="0" anchor="t">
            <a:spAutoFit/>
          </a:bodyPr>
          <a:lstStyle/>
          <a:p>
            <a:pPr algn="l"/>
            <a:r>
              <a:rPr sz="1400" b="1" i="0">
                <a:solidFill>
                  <a:srgbClr val="1A1A1A"/>
                </a:solidFill>
                <a:latin typeface="Arial"/>
                <a:ea typeface="Arial"/>
                <a:cs typeface="Arial"/>
              </a:rPr>
              <a:t>Калькулятор ROUGE: </a:t>
            </a:r>
            <a:r>
              <a:rPr sz="1400" b="0" i="0">
                <a:solidFill>
                  <a:srgbClr val="1F5FAD"/>
                </a:solidFill>
                <a:latin typeface="Arial"/>
                <a:ea typeface="Arial"/>
                <a:cs typeface="Arial"/>
                <a:hlinkClick r:id="rId4"/>
              </a:rPr>
              <a:t>metricgate.com/calculator/rouge-score</a:t>
            </a:r>
          </a:p>
        </p:txBody>
      </p:sp>
      <p:sp>
        <p:nvSpPr>
          <p:cNvPr id="8" name="TextBox 7"/>
          <p:cNvSpPr txBox="1"/>
          <p:nvPr/>
        </p:nvSpPr>
        <p:spPr>
          <a:xfrm>
            <a:off x="812800" y="5800000"/>
            <a:ext cx="10566400" cy="300000"/>
          </a:xfrm>
          <a:prstGeom prst="rect">
            <a:avLst/>
          </a:prstGeom>
          <a:noFill/>
        </p:spPr>
        <p:txBody>
          <a:bodyPr wrap="square" lIns="0" tIns="0" rIns="0" bIns="0" anchor="t">
            <a:spAutoFit/>
          </a:bodyPr>
          <a:lstStyle/>
          <a:p>
            <a:pPr algn="l"/>
            <a:r>
              <a:rPr sz="1300" b="0" i="0" dirty="0" err="1">
                <a:solidFill>
                  <a:srgbClr val="555555"/>
                </a:solidFill>
                <a:latin typeface="Arial"/>
                <a:ea typeface="Arial"/>
                <a:cs typeface="Arial"/>
              </a:rPr>
              <a:t>Перед</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вставкой</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лучше</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убрать</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из</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текстов</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знаки</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препинания</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калькулятор</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считает</a:t>
            </a:r>
            <a:r>
              <a:rPr sz="1300" b="0" i="0" dirty="0">
                <a:solidFill>
                  <a:srgbClr val="555555"/>
                </a:solidFill>
                <a:latin typeface="Arial"/>
                <a:ea typeface="Arial"/>
                <a:cs typeface="Arial"/>
              </a:rPr>
              <a:t> «control» и «control,» </a:t>
            </a:r>
            <a:r>
              <a:rPr sz="1300" b="0" i="0" dirty="0" err="1">
                <a:solidFill>
                  <a:srgbClr val="555555"/>
                </a:solidFill>
                <a:latin typeface="Arial"/>
                <a:ea typeface="Arial"/>
                <a:cs typeface="Arial"/>
              </a:rPr>
              <a:t>разными</a:t>
            </a:r>
            <a:r>
              <a:rPr sz="1300" b="0" i="0" dirty="0">
                <a:solidFill>
                  <a:srgbClr val="555555"/>
                </a:solidFill>
                <a:latin typeface="Arial"/>
                <a:ea typeface="Arial"/>
                <a:cs typeface="Arial"/>
              </a:rPr>
              <a:t> </a:t>
            </a:r>
            <a:r>
              <a:rPr sz="1300" b="0" i="0" dirty="0" err="1">
                <a:solidFill>
                  <a:srgbClr val="555555"/>
                </a:solidFill>
                <a:latin typeface="Arial"/>
                <a:ea typeface="Arial"/>
                <a:cs typeface="Arial"/>
              </a:rPr>
              <a:t>словами</a:t>
            </a:r>
            <a:r>
              <a:rPr sz="1300" b="0" i="0" dirty="0">
                <a:solidFill>
                  <a:srgbClr val="555555"/>
                </a:solidFill>
                <a:latin typeface="Arial"/>
                <a:ea typeface="Arial"/>
                <a:cs typeface="Aria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17526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Что написали модели</a:t>
            </a:r>
            <a:endParaRPr lang="en-US" sz="2800" dirty="0"/>
          </a:p>
        </p:txBody>
      </p:sp>
      <p:pic>
        <p:nvPicPr>
          <p:cNvPr id="3" name="Picture 2" descr="image.png"/>
          <p:cNvPicPr>
            <a:picLocks noChangeAspect="1"/>
          </p:cNvPicPr>
          <p:nvPr/>
        </p:nvPicPr>
        <p:blipFill>
          <a:blip r:embed="rId3"/>
          <a:stretch>
            <a:fillRect/>
          </a:stretch>
        </p:blipFill>
        <p:spPr>
          <a:xfrm>
            <a:off x="812800" y="609600"/>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16</a:t>
            </a:r>
          </a:p>
        </p:txBody>
      </p:sp>
      <p:sp>
        <p:nvSpPr>
          <p:cNvPr id="5" name="Rectangle 4"/>
          <p:cNvSpPr/>
          <p:nvPr/>
        </p:nvSpPr>
        <p:spPr>
          <a:xfrm>
            <a:off x="812800" y="702452"/>
            <a:ext cx="10566398" cy="1031687"/>
          </a:xfrm>
          <a:prstGeom prst="rect">
            <a:avLst/>
          </a:prstGeom>
          <a:solidFill>
            <a:srgbClr val="FAFAFA"/>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200000" tIns="120000" rIns="200000" bIns="120000" rtlCol="0" anchor="t"/>
          <a:lstStyle/>
          <a:p>
            <a:pPr algn="l">
              <a:lnSpc>
                <a:spcPts val="1700"/>
              </a:lnSpc>
            </a:pPr>
            <a:r>
              <a:rPr sz="1300" b="1" i="0" dirty="0" err="1">
                <a:solidFill>
                  <a:srgbClr val="1A1A1A"/>
                </a:solidFill>
                <a:latin typeface="Arial"/>
                <a:ea typeface="Arial"/>
                <a:cs typeface="Arial"/>
              </a:rPr>
              <a:t>Авторская</a:t>
            </a:r>
            <a:r>
              <a:rPr sz="1300" b="1" i="0" dirty="0">
                <a:solidFill>
                  <a:srgbClr val="1A1A1A"/>
                </a:solidFill>
                <a:latin typeface="Arial"/>
                <a:ea typeface="Arial"/>
                <a:cs typeface="Arial"/>
              </a:rPr>
              <a:t> </a:t>
            </a:r>
            <a:r>
              <a:rPr sz="1300" b="1" i="0" dirty="0" err="1">
                <a:solidFill>
                  <a:srgbClr val="1A1A1A"/>
                </a:solidFill>
                <a:latin typeface="Arial"/>
                <a:ea typeface="Arial"/>
                <a:cs typeface="Arial"/>
              </a:rPr>
              <a:t>аннотация</a:t>
            </a:r>
            <a:r>
              <a:rPr sz="1300" b="1" i="0" dirty="0">
                <a:solidFill>
                  <a:srgbClr val="1A1A1A"/>
                </a:solidFill>
                <a:latin typeface="Arial"/>
                <a:ea typeface="Arial"/>
                <a:cs typeface="Arial"/>
              </a:rPr>
              <a:t>: </a:t>
            </a:r>
            <a:r>
              <a:rPr sz="1300" b="0" i="1" dirty="0">
                <a:solidFill>
                  <a:srgbClr val="1A1A1A"/>
                </a:solidFill>
                <a:latin typeface="Arial"/>
                <a:ea typeface="Arial"/>
                <a:cs typeface="Arial"/>
              </a:rPr>
              <a:t>The task of managing unstable systems is a critically important management problem, as an unstable object can pose significant danger to humans and the environment when it fails. In this paper, a neural network was trained to determine the optimal control for an unstable system, based on a comparative analysis of two control methods: the implicit Euler method and the </a:t>
            </a:r>
            <a:r>
              <a:rPr sz="1300" b="0" i="1" dirty="0" err="1">
                <a:solidFill>
                  <a:srgbClr val="1A1A1A"/>
                </a:solidFill>
                <a:latin typeface="Arial"/>
                <a:ea typeface="Arial"/>
                <a:cs typeface="Arial"/>
              </a:rPr>
              <a:t>linearisation</a:t>
            </a:r>
            <a:r>
              <a:rPr sz="1300" b="0" i="1" dirty="0">
                <a:solidFill>
                  <a:srgbClr val="1A1A1A"/>
                </a:solidFill>
                <a:latin typeface="Arial"/>
                <a:ea typeface="Arial"/>
                <a:cs typeface="Arial"/>
              </a:rPr>
              <a:t> method. This neural network identifies the optimal control based on the position of a point on the phase plane.</a:t>
            </a:r>
          </a:p>
        </p:txBody>
      </p:sp>
      <p:sp>
        <p:nvSpPr>
          <p:cNvPr id="6" name="TextBox 5"/>
          <p:cNvSpPr txBox="1"/>
          <p:nvPr/>
        </p:nvSpPr>
        <p:spPr>
          <a:xfrm>
            <a:off x="812800" y="1819325"/>
            <a:ext cx="3375466" cy="320000"/>
          </a:xfrm>
          <a:prstGeom prst="rect">
            <a:avLst/>
          </a:prstGeom>
          <a:noFill/>
        </p:spPr>
        <p:txBody>
          <a:bodyPr wrap="square" lIns="0" tIns="0" rIns="0" bIns="0" anchor="t">
            <a:spAutoFit/>
          </a:bodyPr>
          <a:lstStyle/>
          <a:p>
            <a:pPr algn="l"/>
            <a:r>
              <a:rPr sz="1700" b="1" i="0" dirty="0">
                <a:solidFill>
                  <a:srgbClr val="1F3A68"/>
                </a:solidFill>
                <a:latin typeface="Arial"/>
                <a:ea typeface="Arial"/>
                <a:cs typeface="Arial"/>
              </a:rPr>
              <a:t>Claude Sonnet</a:t>
            </a:r>
          </a:p>
        </p:txBody>
      </p:sp>
      <p:sp>
        <p:nvSpPr>
          <p:cNvPr id="7" name="Rectangle 6"/>
          <p:cNvSpPr/>
          <p:nvPr/>
        </p:nvSpPr>
        <p:spPr>
          <a:xfrm>
            <a:off x="671398" y="2097719"/>
            <a:ext cx="3375466" cy="2850000"/>
          </a:xfrm>
          <a:prstGeom prst="rect">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40000" tIns="110000" rIns="140000" bIns="110000" rtlCol="0" anchor="t"/>
          <a:lstStyle/>
          <a:p>
            <a:pPr algn="l">
              <a:lnSpc>
                <a:spcPts val="1700"/>
              </a:lnSpc>
            </a:pPr>
            <a:r>
              <a:rPr lang="en-US" sz="1400" dirty="0">
                <a:solidFill>
                  <a:schemeClr val="tx1"/>
                </a:solidFill>
              </a:rPr>
              <a:t>This paper aims to determine optimal durations of the two steps of </a:t>
            </a:r>
            <a:r>
              <a:rPr lang="en-US" sz="1400" dirty="0" err="1">
                <a:solidFill>
                  <a:schemeClr val="tx1"/>
                </a:solidFill>
              </a:rPr>
              <a:t>Pontryagin</a:t>
            </a:r>
            <a:r>
              <a:rPr lang="en-US" sz="1400" dirty="0">
                <a:solidFill>
                  <a:schemeClr val="tx1"/>
                </a:solidFill>
              </a:rPr>
              <a:t> maximum principle-based time-limited control for stabilizing an inverted pendulum near the unstable equilibrium, and to automate the choice between two approaches. The first approach </a:t>
            </a:r>
            <a:r>
              <a:rPr lang="en-US" sz="1400" dirty="0" err="1">
                <a:solidFill>
                  <a:schemeClr val="tx1"/>
                </a:solidFill>
              </a:rPr>
              <a:t>linearises</a:t>
            </a:r>
            <a:r>
              <a:rPr lang="en-US" sz="1400" dirty="0">
                <a:solidFill>
                  <a:schemeClr val="tx1"/>
                </a:solidFill>
              </a:rPr>
              <a:t> the system, and the second uses the implicit Euler method. A neural network with a single hidden layer, either a perceptron or an RBF network, selects the method at each step. In experiments, the perceptron reached success rates up to 1.00, and the 20-neuron Gaussian network achieved the shortest control durations. The combined system outperformed each method used separately.</a:t>
            </a:r>
            <a:endParaRPr sz="1300" b="0" i="1" dirty="0">
              <a:solidFill>
                <a:schemeClr val="tx1"/>
              </a:solidFill>
              <a:latin typeface="Arial"/>
              <a:ea typeface="Arial"/>
              <a:cs typeface="Arial"/>
            </a:endParaRPr>
          </a:p>
        </p:txBody>
      </p:sp>
      <p:sp>
        <p:nvSpPr>
          <p:cNvPr id="8" name="TextBox 7"/>
          <p:cNvSpPr txBox="1"/>
          <p:nvPr/>
        </p:nvSpPr>
        <p:spPr>
          <a:xfrm>
            <a:off x="4486864" y="1819325"/>
            <a:ext cx="3375466" cy="320000"/>
          </a:xfrm>
          <a:prstGeom prst="rect">
            <a:avLst/>
          </a:prstGeom>
          <a:noFill/>
        </p:spPr>
        <p:txBody>
          <a:bodyPr wrap="square" lIns="0" tIns="0" rIns="0" bIns="0" anchor="t">
            <a:spAutoFit/>
          </a:bodyPr>
          <a:lstStyle/>
          <a:p>
            <a:pPr algn="l"/>
            <a:r>
              <a:rPr sz="1700" b="1" i="0" dirty="0" err="1">
                <a:solidFill>
                  <a:srgbClr val="1F3A68"/>
                </a:solidFill>
                <a:latin typeface="Arial"/>
                <a:ea typeface="Arial"/>
                <a:cs typeface="Arial"/>
              </a:rPr>
              <a:t>DeepSeek</a:t>
            </a:r>
            <a:endParaRPr sz="1700" b="1" i="0" dirty="0">
              <a:solidFill>
                <a:srgbClr val="1F3A68"/>
              </a:solidFill>
              <a:latin typeface="Arial"/>
              <a:ea typeface="Arial"/>
              <a:cs typeface="Arial"/>
            </a:endParaRPr>
          </a:p>
        </p:txBody>
      </p:sp>
      <p:sp>
        <p:nvSpPr>
          <p:cNvPr id="9" name="Rectangle 8"/>
          <p:cNvSpPr/>
          <p:nvPr/>
        </p:nvSpPr>
        <p:spPr>
          <a:xfrm>
            <a:off x="4408264" y="2083166"/>
            <a:ext cx="3375466" cy="2850000"/>
          </a:xfrm>
          <a:prstGeom prst="rect">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40000" tIns="110000" rIns="140000" bIns="110000" rtlCol="0" anchor="t"/>
          <a:lstStyle/>
          <a:p>
            <a:pPr algn="l">
              <a:lnSpc>
                <a:spcPts val="1700"/>
              </a:lnSpc>
            </a:pPr>
            <a:r>
              <a:rPr lang="en-US" sz="1400" b="0" i="0" dirty="0">
                <a:solidFill>
                  <a:schemeClr val="tx1"/>
                </a:solidFill>
                <a:effectLst/>
                <a:latin typeface="+mj-lt"/>
              </a:rPr>
              <a:t>This paper addresses stabilization of an inverted pendulum near an unstable equilibrium by selecting the optimal control method at each step. Two approaches are considered: </a:t>
            </a:r>
            <a:r>
              <a:rPr lang="en-US" sz="1400" b="0" i="0" dirty="0" err="1">
                <a:solidFill>
                  <a:schemeClr val="tx1"/>
                </a:solidFill>
                <a:effectLst/>
                <a:latin typeface="+mj-lt"/>
              </a:rPr>
              <a:t>linearisation</a:t>
            </a:r>
            <a:r>
              <a:rPr lang="en-US" sz="1400" b="0" i="0" dirty="0">
                <a:solidFill>
                  <a:schemeClr val="tx1"/>
                </a:solidFill>
                <a:effectLst/>
                <a:latin typeface="+mj-lt"/>
              </a:rPr>
              <a:t> and the implicit Euler method. A single-hidden-layer neural network is trained to choose between them from the point’s phase-plane position. Computational experiments show the combined intelligent system consistently moves points to the proximity of the origin and outperforms each individual method. A perceptron is recommended for limited resources or strict success requirements; an RBF network with a Gaussian basis function is advisable when control time is of utmost importance.</a:t>
            </a:r>
            <a:endParaRPr sz="1300" b="0" i="1" dirty="0">
              <a:solidFill>
                <a:schemeClr val="tx1"/>
              </a:solidFill>
              <a:latin typeface="+mj-lt"/>
              <a:ea typeface="Arial"/>
              <a:cs typeface="Arial"/>
            </a:endParaRPr>
          </a:p>
        </p:txBody>
      </p:sp>
      <p:sp>
        <p:nvSpPr>
          <p:cNvPr id="10" name="TextBox 9"/>
          <p:cNvSpPr txBox="1"/>
          <p:nvPr/>
        </p:nvSpPr>
        <p:spPr>
          <a:xfrm>
            <a:off x="8003732" y="1819325"/>
            <a:ext cx="3375466" cy="320000"/>
          </a:xfrm>
          <a:prstGeom prst="rect">
            <a:avLst/>
          </a:prstGeom>
          <a:noFill/>
        </p:spPr>
        <p:txBody>
          <a:bodyPr wrap="square" lIns="0" tIns="0" rIns="0" bIns="0" anchor="t">
            <a:spAutoFit/>
          </a:bodyPr>
          <a:lstStyle/>
          <a:p>
            <a:pPr algn="l"/>
            <a:r>
              <a:rPr sz="1700" b="1" i="0">
                <a:solidFill>
                  <a:srgbClr val="1F3A68"/>
                </a:solidFill>
                <a:latin typeface="Arial"/>
                <a:ea typeface="Arial"/>
                <a:cs typeface="Arial"/>
              </a:rPr>
              <a:t>ChatGPT</a:t>
            </a:r>
          </a:p>
        </p:txBody>
      </p:sp>
      <p:sp>
        <p:nvSpPr>
          <p:cNvPr id="11" name="Rectangle 10"/>
          <p:cNvSpPr/>
          <p:nvPr/>
        </p:nvSpPr>
        <p:spPr>
          <a:xfrm>
            <a:off x="8003734" y="2093152"/>
            <a:ext cx="3375466" cy="2850000"/>
          </a:xfrm>
          <a:prstGeom prst="rect">
            <a:avLst/>
          </a:prstGeom>
          <a:solidFill>
            <a:srgbClr val="FFFFFF"/>
          </a:solidFill>
          <a:ln w="12700">
            <a:noFill/>
          </a:ln>
          <a:effectLst/>
        </p:spPr>
        <p:style>
          <a:lnRef idx="1">
            <a:schemeClr val="accent1"/>
          </a:lnRef>
          <a:fillRef idx="3">
            <a:schemeClr val="accent1"/>
          </a:fillRef>
          <a:effectRef idx="2">
            <a:schemeClr val="accent1"/>
          </a:effectRef>
          <a:fontRef idx="minor">
            <a:schemeClr val="lt1"/>
          </a:fontRef>
        </p:style>
        <p:txBody>
          <a:bodyPr wrap="square" lIns="140000" tIns="110000" rIns="140000" bIns="110000" rtlCol="0" anchor="t"/>
          <a:lstStyle/>
          <a:p>
            <a:r>
              <a:rPr lang="en-US" sz="1400" dirty="0">
                <a:solidFill>
                  <a:schemeClr val="tx1"/>
                </a:solidFill>
              </a:rPr>
              <a:t>An intelligent system is developed to select the optimal control method for stabilizing an inverted pendulum near an unstable equilibrium position. Two approaches are considered: </a:t>
            </a:r>
            <a:r>
              <a:rPr lang="en-US" sz="1400" dirty="0" err="1">
                <a:solidFill>
                  <a:schemeClr val="tx1"/>
                </a:solidFill>
              </a:rPr>
              <a:t>linearisation</a:t>
            </a:r>
            <a:r>
              <a:rPr lang="en-US" sz="1400" dirty="0">
                <a:solidFill>
                  <a:schemeClr val="tx1"/>
                </a:solidFill>
              </a:rPr>
              <a:t> and the implicit Euler method, with a neural network used to select the appropriate method at each step. Computational experiments are conducted using 100 randomly distributed starting points, comparing perceptron and Gaussian networks with 5, 10, and 20 neurons. The combined method consistently moves points to the proximity of the origin and outperforms the individual methods, with the perceptron providing a suitable balance between success rate and computational resources.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Результаты эксперимента</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17</a:t>
            </a:r>
          </a:p>
        </p:txBody>
      </p:sp>
      <p:graphicFrame>
        <p:nvGraphicFramePr>
          <p:cNvPr id="5" name="Table 4"/>
          <p:cNvGraphicFramePr>
            <a:graphicFrameLocks noGrp="1"/>
          </p:cNvGraphicFramePr>
          <p:nvPr/>
        </p:nvGraphicFramePr>
        <p:xfrm>
          <a:off x="812800" y="1399542"/>
          <a:ext cx="10566400" cy="3360000"/>
        </p:xfrm>
        <a:graphic>
          <a:graphicData uri="http://schemas.openxmlformats.org/drawingml/2006/table">
            <a:tbl>
              <a:tblPr/>
              <a:tblGrid>
                <a:gridCol w="3100000">
                  <a:extLst>
                    <a:ext uri="{9D8B030D-6E8A-4147-A177-3AD203B41FA5}">
                      <a16:colId xmlns:a16="http://schemas.microsoft.com/office/drawing/2014/main" val="20000"/>
                    </a:ext>
                  </a:extLst>
                </a:gridCol>
                <a:gridCol w="2488800">
                  <a:extLst>
                    <a:ext uri="{9D8B030D-6E8A-4147-A177-3AD203B41FA5}">
                      <a16:colId xmlns:a16="http://schemas.microsoft.com/office/drawing/2014/main" val="20001"/>
                    </a:ext>
                  </a:extLst>
                </a:gridCol>
                <a:gridCol w="2488800">
                  <a:extLst>
                    <a:ext uri="{9D8B030D-6E8A-4147-A177-3AD203B41FA5}">
                      <a16:colId xmlns:a16="http://schemas.microsoft.com/office/drawing/2014/main" val="20002"/>
                    </a:ext>
                  </a:extLst>
                </a:gridCol>
                <a:gridCol w="2488800">
                  <a:extLst>
                    <a:ext uri="{9D8B030D-6E8A-4147-A177-3AD203B41FA5}">
                      <a16:colId xmlns:a16="http://schemas.microsoft.com/office/drawing/2014/main" val="20003"/>
                    </a:ext>
                  </a:extLst>
                </a:gridCol>
              </a:tblGrid>
              <a:tr h="560000">
                <a:tc>
                  <a:txBody>
                    <a:bodyPr/>
                    <a:lstStyle/>
                    <a:p>
                      <a:pPr algn="l"/>
                      <a:r>
                        <a:rPr sz="1600" b="1" i="0">
                          <a:solidFill>
                            <a:srgbClr val="1A1A1A"/>
                          </a:solidFill>
                          <a:latin typeface="Arial"/>
                          <a:ea typeface="Arial"/>
                          <a:cs typeface="Arial"/>
                        </a:rPr>
                        <a:t>Метрика</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600" b="1" i="0">
                          <a:solidFill>
                            <a:srgbClr val="1A1A1A"/>
                          </a:solidFill>
                          <a:latin typeface="Arial"/>
                          <a:ea typeface="Arial"/>
                          <a:cs typeface="Arial"/>
                        </a:rPr>
                        <a:t>Claude Sonnet</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600" b="1" i="0">
                          <a:solidFill>
                            <a:srgbClr val="1A1A1A"/>
                          </a:solidFill>
                          <a:latin typeface="Arial"/>
                          <a:ea typeface="Arial"/>
                          <a:cs typeface="Arial"/>
                        </a:rPr>
                        <a:t>DeepSeek</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600" b="1" i="0">
                          <a:solidFill>
                            <a:srgbClr val="1A1A1A"/>
                          </a:solidFill>
                          <a:latin typeface="Arial"/>
                          <a:ea typeface="Arial"/>
                          <a:cs typeface="Arial"/>
                        </a:rPr>
                        <a:t>ChatGPT</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extLst>
                  <a:ext uri="{0D108BD9-81ED-4DB2-BD59-A6C34878D82A}">
                    <a16:rowId xmlns:a16="http://schemas.microsoft.com/office/drawing/2014/main" val="10000"/>
                  </a:ext>
                </a:extLst>
              </a:tr>
              <a:tr h="560000">
                <a:tc>
                  <a:txBody>
                    <a:bodyPr/>
                    <a:lstStyle/>
                    <a:p>
                      <a:pPr algn="l"/>
                      <a:r>
                        <a:rPr sz="1600" b="0" i="0">
                          <a:solidFill>
                            <a:srgbClr val="1A1A1A"/>
                          </a:solidFill>
                          <a:latin typeface="Arial"/>
                          <a:ea typeface="Arial"/>
                          <a:cs typeface="Arial"/>
                        </a:rPr>
                        <a:t>ROUGE-1, %</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40.7</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1" i="0">
                          <a:solidFill>
                            <a:srgbClr val="1A1A1A"/>
                          </a:solidFill>
                          <a:latin typeface="Arial"/>
                          <a:ea typeface="Arial"/>
                          <a:cs typeface="Arial"/>
                        </a:rPr>
                        <a:t>41.1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33.1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1"/>
                  </a:ext>
                </a:extLst>
              </a:tr>
              <a:tr h="560000">
                <a:tc>
                  <a:txBody>
                    <a:bodyPr/>
                    <a:lstStyle/>
                    <a:p>
                      <a:pPr algn="l"/>
                      <a:r>
                        <a:rPr sz="1600" b="0" i="0">
                          <a:solidFill>
                            <a:srgbClr val="1A1A1A"/>
                          </a:solidFill>
                          <a:latin typeface="Arial"/>
                          <a:ea typeface="Arial"/>
                          <a:cs typeface="Arial"/>
                        </a:rPr>
                        <a:t>ROUGE-L, %</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1" i="0">
                          <a:solidFill>
                            <a:srgbClr val="1A1A1A"/>
                          </a:solidFill>
                          <a:latin typeface="Arial"/>
                          <a:ea typeface="Arial"/>
                          <a:cs typeface="Arial"/>
                        </a:rPr>
                        <a:t>21.5</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20.6</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20.6</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2"/>
                  </a:ext>
                </a:extLst>
              </a:tr>
              <a:tr h="560000">
                <a:tc>
                  <a:txBody>
                    <a:bodyPr/>
                    <a:lstStyle/>
                    <a:p>
                      <a:pPr algn="l"/>
                      <a:r>
                        <a:rPr sz="1600" b="0" i="0">
                          <a:solidFill>
                            <a:srgbClr val="1A1A1A"/>
                          </a:solidFill>
                          <a:latin typeface="Arial"/>
                          <a:ea typeface="Arial"/>
                          <a:cs typeface="Arial"/>
                        </a:rPr>
                        <a:t>Галлюцинации, шт.</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0</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0</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0</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3"/>
                  </a:ext>
                </a:extLst>
              </a:tr>
              <a:tr h="560000">
                <a:tc>
                  <a:txBody>
                    <a:bodyPr/>
                    <a:lstStyle/>
                    <a:p>
                      <a:pPr algn="l"/>
                      <a:r>
                        <a:rPr sz="1600" b="0" i="0">
                          <a:solidFill>
                            <a:srgbClr val="1A1A1A"/>
                          </a:solidFill>
                          <a:latin typeface="Arial"/>
                          <a:ea typeface="Arial"/>
                          <a:cs typeface="Arial"/>
                        </a:rPr>
                        <a:t>Структура, из 4</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4</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4</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4</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4"/>
                  </a:ext>
                </a:extLst>
              </a:tr>
              <a:tr h="560000">
                <a:tc>
                  <a:txBody>
                    <a:bodyPr/>
                    <a:lstStyle/>
                    <a:p>
                      <a:pPr algn="l"/>
                      <a:r>
                        <a:rPr sz="1600" b="0" i="0">
                          <a:solidFill>
                            <a:srgbClr val="1A1A1A"/>
                          </a:solidFill>
                          <a:latin typeface="Arial"/>
                          <a:ea typeface="Arial"/>
                          <a:cs typeface="Arial"/>
                        </a:rPr>
                        <a:t>Объём, слов</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97</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95</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600" b="0" i="0">
                          <a:solidFill>
                            <a:srgbClr val="1A1A1A"/>
                          </a:solidFill>
                          <a:latin typeface="Arial"/>
                          <a:ea typeface="Arial"/>
                          <a:cs typeface="Arial"/>
                        </a:rPr>
                        <a:t>95</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812800" y="5109542"/>
            <a:ext cx="10566400" cy="1200000"/>
          </a:xfrm>
          <a:prstGeom prst="rect">
            <a:avLst/>
          </a:prstGeom>
          <a:noFill/>
        </p:spPr>
        <p:txBody>
          <a:bodyPr wrap="square" lIns="0" tIns="0" rIns="0" bIns="0">
            <a:spAutoFit/>
          </a:bodyPr>
          <a:lstStyle/>
          <a:p>
            <a:pPr>
              <a:lnSpc>
                <a:spcPts val="2200"/>
              </a:lnSpc>
              <a:spcAft>
                <a:spcPts val="600"/>
              </a:spcAft>
            </a:pPr>
            <a:r>
              <a:rPr sz="1600" b="1">
                <a:solidFill>
                  <a:srgbClr val="1A1A1A"/>
                </a:solidFill>
                <a:latin typeface="Arial"/>
              </a:rPr>
              <a:t>Вывод: </a:t>
            </a:r>
            <a:r>
              <a:rPr sz="1600" b="0">
                <a:solidFill>
                  <a:srgbClr val="1A1A1A"/>
                </a:solidFill>
                <a:latin typeface="Arial"/>
              </a:rPr>
              <a:t>выдуманных фактов нет ни у одной модели, все три аннотации построены по схеме из четырёх частей.</a:t>
            </a:r>
          </a:p>
          <a:p>
            <a:pPr>
              <a:lnSpc>
                <a:spcPts val="2200"/>
              </a:lnSpc>
              <a:spcAft>
                <a:spcPts val="600"/>
              </a:spcAft>
            </a:pPr>
            <a:r>
              <a:rPr sz="1600" b="0">
                <a:solidFill>
                  <a:srgbClr val="1A1A1A"/>
                </a:solidFill>
                <a:latin typeface="Arial"/>
              </a:rPr>
              <a:t>ROUGE невысокий, потому что модели расставили акценты иначе, чем автор: автор пишет о значимости задачи и идее метода, а модели пересказывают детали экспериментов и рекомендации.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Лабораторная работа: задание</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18</a:t>
            </a:r>
          </a:p>
        </p:txBody>
      </p:sp>
      <p:sp>
        <p:nvSpPr>
          <p:cNvPr id="5" name="TextBox 4"/>
          <p:cNvSpPr txBox="1"/>
          <p:nvPr/>
        </p:nvSpPr>
        <p:spPr>
          <a:xfrm>
            <a:off x="812800" y="1360000"/>
            <a:ext cx="10566400" cy="400000"/>
          </a:xfrm>
          <a:prstGeom prst="rect">
            <a:avLst/>
          </a:prstGeom>
          <a:noFill/>
        </p:spPr>
        <p:txBody>
          <a:bodyPr wrap="square" lIns="0" tIns="0" rIns="0" bIns="0" anchor="t">
            <a:spAutoFit/>
          </a:bodyPr>
          <a:lstStyle/>
          <a:p>
            <a:pPr algn="l"/>
            <a:r>
              <a:rPr sz="1600" b="1" i="0">
                <a:solidFill>
                  <a:srgbClr val="1A1A1A"/>
                </a:solidFill>
                <a:latin typeface="Arial"/>
                <a:ea typeface="Arial"/>
                <a:cs typeface="Arial"/>
              </a:rPr>
              <a:t>Цель: </a:t>
            </a:r>
            <a:r>
              <a:rPr sz="1600" b="0" i="0">
                <a:solidFill>
                  <a:srgbClr val="1A1A1A"/>
                </a:solidFill>
                <a:latin typeface="Arial"/>
                <a:ea typeface="Arial"/>
                <a:cs typeface="Arial"/>
              </a:rPr>
              <a:t>сравнить аннотации трёх LLM на своей статье и проверить их по фактам.</a:t>
            </a:r>
          </a:p>
        </p:txBody>
      </p:sp>
      <p:graphicFrame>
        <p:nvGraphicFramePr>
          <p:cNvPr id="6" name="Table 5"/>
          <p:cNvGraphicFramePr>
            <a:graphicFrameLocks noGrp="1"/>
          </p:cNvGraphicFramePr>
          <p:nvPr>
            <p:extLst>
              <p:ext uri="{D42A27DB-BD31-4B8C-83A1-F6EECF244321}">
                <p14:modId xmlns:p14="http://schemas.microsoft.com/office/powerpoint/2010/main" val="3338473119"/>
              </p:ext>
            </p:extLst>
          </p:nvPr>
        </p:nvGraphicFramePr>
        <p:xfrm>
          <a:off x="812800" y="1900000"/>
          <a:ext cx="10566400" cy="3577200"/>
        </p:xfrm>
        <a:graphic>
          <a:graphicData uri="http://schemas.openxmlformats.org/drawingml/2006/table">
            <a:tbl>
              <a:tblPr/>
              <a:tblGrid>
                <a:gridCol w="600000">
                  <a:extLst>
                    <a:ext uri="{9D8B030D-6E8A-4147-A177-3AD203B41FA5}">
                      <a16:colId xmlns:a16="http://schemas.microsoft.com/office/drawing/2014/main" val="20000"/>
                    </a:ext>
                  </a:extLst>
                </a:gridCol>
                <a:gridCol w="2650000">
                  <a:extLst>
                    <a:ext uri="{9D8B030D-6E8A-4147-A177-3AD203B41FA5}">
                      <a16:colId xmlns:a16="http://schemas.microsoft.com/office/drawing/2014/main" val="20001"/>
                    </a:ext>
                  </a:extLst>
                </a:gridCol>
                <a:gridCol w="7316400">
                  <a:extLst>
                    <a:ext uri="{9D8B030D-6E8A-4147-A177-3AD203B41FA5}">
                      <a16:colId xmlns:a16="http://schemas.microsoft.com/office/drawing/2014/main" val="20002"/>
                    </a:ext>
                  </a:extLst>
                </a:gridCol>
              </a:tblGrid>
              <a:tr h="500000">
                <a:tc>
                  <a:txBody>
                    <a:bodyPr/>
                    <a:lstStyle/>
                    <a:p>
                      <a:pPr algn="l"/>
                      <a:r>
                        <a:rPr sz="1500" b="1" i="0">
                          <a:solidFill>
                            <a:srgbClr val="1A1A1A"/>
                          </a:solidFill>
                          <a:latin typeface="Arial"/>
                          <a:ea typeface="Arial"/>
                          <a:cs typeface="Arial"/>
                        </a:rPr>
                        <a:t>№</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500" b="1" i="0">
                          <a:solidFill>
                            <a:srgbClr val="1A1A1A"/>
                          </a:solidFill>
                          <a:latin typeface="Arial"/>
                          <a:ea typeface="Arial"/>
                          <a:cs typeface="Arial"/>
                        </a:rPr>
                        <a:t>Шаг</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tc>
                  <a:txBody>
                    <a:bodyPr/>
                    <a:lstStyle/>
                    <a:p>
                      <a:pPr algn="l"/>
                      <a:r>
                        <a:rPr sz="1500" b="1" i="0">
                          <a:solidFill>
                            <a:srgbClr val="1A1A1A"/>
                          </a:solidFill>
                          <a:latin typeface="Arial"/>
                          <a:ea typeface="Arial"/>
                          <a:cs typeface="Arial"/>
                        </a:rPr>
                        <a:t>Что сделать</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ECECEC"/>
                    </a:solidFill>
                  </a:tcPr>
                </a:tc>
                <a:extLst>
                  <a:ext uri="{0D108BD9-81ED-4DB2-BD59-A6C34878D82A}">
                    <a16:rowId xmlns:a16="http://schemas.microsoft.com/office/drawing/2014/main" val="10000"/>
                  </a:ext>
                </a:extLst>
              </a:tr>
              <a:tr h="500000">
                <a:tc>
                  <a:txBody>
                    <a:bodyPr/>
                    <a:lstStyle/>
                    <a:p>
                      <a:pPr algn="l"/>
                      <a:r>
                        <a:rPr sz="1500" b="0" i="0">
                          <a:solidFill>
                            <a:srgbClr val="1F3A68"/>
                          </a:solidFill>
                          <a:latin typeface="Arial"/>
                          <a:ea typeface="Arial"/>
                          <a:cs typeface="Arial"/>
                        </a:rPr>
                        <a:t>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Выбрать статью</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Своя или из журнала, с авторской аннотацией</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1"/>
                  </a:ext>
                </a:extLst>
              </a:tr>
              <a:tr h="500000">
                <a:tc>
                  <a:txBody>
                    <a:bodyPr/>
                    <a:lstStyle/>
                    <a:p>
                      <a:pPr algn="l"/>
                      <a:r>
                        <a:rPr sz="1500" b="0" i="0">
                          <a:solidFill>
                            <a:srgbClr val="1F3A68"/>
                          </a:solidFill>
                          <a:latin typeface="Arial"/>
                          <a:ea typeface="Arial"/>
                          <a:cs typeface="Arial"/>
                        </a:rPr>
                        <a:t>2</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Подготовить текст</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Удалить из статьи аннотацию и ключевые слова, аннотацию сохранить отдельно</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2"/>
                  </a:ext>
                </a:extLst>
              </a:tr>
              <a:tr h="500000">
                <a:tc>
                  <a:txBody>
                    <a:bodyPr/>
                    <a:lstStyle/>
                    <a:p>
                      <a:pPr algn="l"/>
                      <a:r>
                        <a:rPr sz="1500" b="0" i="0">
                          <a:solidFill>
                            <a:srgbClr val="1F3A68"/>
                          </a:solidFill>
                          <a:latin typeface="Arial"/>
                          <a:ea typeface="Arial"/>
                          <a:cs typeface="Arial"/>
                        </a:rPr>
                        <a:t>3</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Сгенерировать</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dirty="0" err="1">
                          <a:solidFill>
                            <a:srgbClr val="1A1A1A"/>
                          </a:solidFill>
                          <a:latin typeface="Arial"/>
                          <a:ea typeface="Arial"/>
                          <a:cs typeface="Arial"/>
                        </a:rPr>
                        <a:t>Промпт</a:t>
                      </a:r>
                      <a:r>
                        <a:rPr lang="ru-RU" sz="1500" b="0" i="0" dirty="0">
                          <a:solidFill>
                            <a:srgbClr val="1A1A1A"/>
                          </a:solidFill>
                          <a:latin typeface="Arial"/>
                          <a:ea typeface="Arial"/>
                          <a:cs typeface="Arial"/>
                        </a:rPr>
                        <a:t> для нексольких моделей</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кажд</a:t>
                      </a:r>
                      <a:r>
                        <a:rPr lang="ru-RU" sz="1500" b="0" i="0" dirty="0">
                          <a:solidFill>
                            <a:srgbClr val="1A1A1A"/>
                          </a:solidFill>
                          <a:latin typeface="Arial"/>
                          <a:ea typeface="Arial"/>
                          <a:cs typeface="Arial"/>
                        </a:rPr>
                        <a:t>ый</a:t>
                      </a:r>
                      <a:r>
                        <a:rPr sz="1500" b="0" i="0" dirty="0">
                          <a:solidFill>
                            <a:srgbClr val="1A1A1A"/>
                          </a:solidFill>
                          <a:latin typeface="Arial"/>
                          <a:ea typeface="Arial"/>
                          <a:cs typeface="Arial"/>
                        </a:rPr>
                        <a:t> в </a:t>
                      </a:r>
                      <a:r>
                        <a:rPr sz="1500" b="0" i="0" dirty="0" err="1">
                          <a:solidFill>
                            <a:srgbClr val="1A1A1A"/>
                          </a:solidFill>
                          <a:latin typeface="Arial"/>
                          <a:ea typeface="Arial"/>
                          <a:cs typeface="Arial"/>
                        </a:rPr>
                        <a:t>новом</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чате</a:t>
                      </a:r>
                      <a:endParaRPr sz="1500" b="0" i="0" dirty="0">
                        <a:solidFill>
                          <a:srgbClr val="1A1A1A"/>
                        </a:solidFill>
                        <a:latin typeface="Arial"/>
                        <a:ea typeface="Arial"/>
                        <a:cs typeface="Arial"/>
                      </a:endParaRP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3"/>
                  </a:ext>
                </a:extLst>
              </a:tr>
              <a:tr h="500000">
                <a:tc>
                  <a:txBody>
                    <a:bodyPr/>
                    <a:lstStyle/>
                    <a:p>
                      <a:pPr algn="l"/>
                      <a:r>
                        <a:rPr sz="1500" b="0" i="0">
                          <a:solidFill>
                            <a:srgbClr val="1F3A68"/>
                          </a:solidFill>
                          <a:latin typeface="Arial"/>
                          <a:ea typeface="Arial"/>
                          <a:cs typeface="Arial"/>
                        </a:rPr>
                        <a:t>4</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Посчитать ROUGE</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Для каждой модели: её аннотация и авторская в калькулятор, записать F1</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4"/>
                  </a:ext>
                </a:extLst>
              </a:tr>
              <a:tr h="500000">
                <a:tc>
                  <a:txBody>
                    <a:bodyPr/>
                    <a:lstStyle/>
                    <a:p>
                      <a:pPr algn="l"/>
                      <a:r>
                        <a:rPr sz="1500" b="0" i="0">
                          <a:solidFill>
                            <a:srgbClr val="1F3A68"/>
                          </a:solidFill>
                          <a:latin typeface="Arial"/>
                          <a:ea typeface="Arial"/>
                          <a:cs typeface="Arial"/>
                        </a:rPr>
                        <a:t>5</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Проверить факты</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Каждое утверждение аннотации найти в статье, посчитать выдуманные</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5"/>
                  </a:ext>
                </a:extLst>
              </a:tr>
              <a:tr h="500000">
                <a:tc>
                  <a:txBody>
                    <a:bodyPr/>
                    <a:lstStyle/>
                    <a:p>
                      <a:pPr algn="l"/>
                      <a:r>
                        <a:rPr sz="1500" b="0" i="0">
                          <a:solidFill>
                            <a:srgbClr val="1F3A68"/>
                          </a:solidFill>
                          <a:latin typeface="Arial"/>
                          <a:ea typeface="Arial"/>
                          <a:cs typeface="Arial"/>
                        </a:rPr>
                        <a:t>6</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a:solidFill>
                            <a:srgbClr val="1A1A1A"/>
                          </a:solidFill>
                          <a:latin typeface="Arial"/>
                          <a:ea typeface="Arial"/>
                          <a:cs typeface="Arial"/>
                        </a:rPr>
                        <a:t>Сделать вывод</a:t>
                      </a: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tc>
                  <a:txBody>
                    <a:bodyPr/>
                    <a:lstStyle/>
                    <a:p>
                      <a:pPr algn="l"/>
                      <a:r>
                        <a:rPr sz="1500" b="0" i="0" dirty="0" err="1">
                          <a:solidFill>
                            <a:srgbClr val="1A1A1A"/>
                          </a:solidFill>
                          <a:latin typeface="Arial"/>
                          <a:ea typeface="Arial"/>
                          <a:cs typeface="Arial"/>
                        </a:rPr>
                        <a:t>Заполнить</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таблицу</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со</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слайда</a:t>
                      </a:r>
                      <a:r>
                        <a:rPr sz="1500" b="0" i="0" dirty="0">
                          <a:solidFill>
                            <a:srgbClr val="1A1A1A"/>
                          </a:solidFill>
                          <a:latin typeface="Arial"/>
                          <a:ea typeface="Arial"/>
                          <a:cs typeface="Arial"/>
                        </a:rPr>
                        <a:t> 17 и </a:t>
                      </a:r>
                      <a:r>
                        <a:rPr sz="1500" b="0" i="0" dirty="0" err="1">
                          <a:solidFill>
                            <a:srgbClr val="1A1A1A"/>
                          </a:solidFill>
                          <a:latin typeface="Arial"/>
                          <a:ea typeface="Arial"/>
                          <a:cs typeface="Arial"/>
                        </a:rPr>
                        <a:t>выбрать</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лучшую</a:t>
                      </a:r>
                      <a:r>
                        <a:rPr sz="1500" b="0" i="0" dirty="0">
                          <a:solidFill>
                            <a:srgbClr val="1A1A1A"/>
                          </a:solidFill>
                          <a:latin typeface="Arial"/>
                          <a:ea typeface="Arial"/>
                          <a:cs typeface="Arial"/>
                        </a:rPr>
                        <a:t> </a:t>
                      </a:r>
                      <a:r>
                        <a:rPr sz="1500" b="0" i="0" dirty="0" err="1">
                          <a:solidFill>
                            <a:srgbClr val="1A1A1A"/>
                          </a:solidFill>
                          <a:latin typeface="Arial"/>
                          <a:ea typeface="Arial"/>
                          <a:cs typeface="Arial"/>
                        </a:rPr>
                        <a:t>модель</a:t>
                      </a:r>
                      <a:endParaRPr sz="1500" b="0" i="0" dirty="0">
                        <a:solidFill>
                          <a:srgbClr val="1A1A1A"/>
                        </a:solidFill>
                        <a:latin typeface="Arial"/>
                        <a:ea typeface="Arial"/>
                        <a:cs typeface="Arial"/>
                      </a:endParaRPr>
                    </a:p>
                  </a:txBody>
                  <a:tcPr marL="110000" marR="110000" marT="60000" marB="60000" anchor="ctr">
                    <a:lnL w="12700">
                      <a:solidFill>
                        <a:srgbClr val="CBCBCB"/>
                      </a:solidFill>
                    </a:lnL>
                    <a:lnR w="12700">
                      <a:solidFill>
                        <a:srgbClr val="CBCBCB"/>
                      </a:solidFill>
                    </a:lnR>
                    <a:lnT w="12700">
                      <a:solidFill>
                        <a:srgbClr val="CBCBCB"/>
                      </a:solidFill>
                    </a:lnT>
                    <a:lnB w="12700">
                      <a:solidFill>
                        <a:srgbClr val="CBCBCB"/>
                      </a:solidFill>
                    </a:lnB>
                    <a:solidFill>
                      <a:srgbClr val="FFFFFF"/>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812800" y="5650000"/>
            <a:ext cx="10566400" cy="300000"/>
          </a:xfrm>
          <a:prstGeom prst="rect">
            <a:avLst/>
          </a:prstGeom>
          <a:noFill/>
        </p:spPr>
        <p:txBody>
          <a:bodyPr wrap="square" lIns="0" tIns="0" rIns="0" bIns="0" anchor="t">
            <a:spAutoFit/>
          </a:bodyPr>
          <a:lstStyle/>
          <a:p>
            <a:pPr algn="l"/>
            <a:r>
              <a:rPr sz="1400" b="1" i="0">
                <a:solidFill>
                  <a:srgbClr val="1A1A1A"/>
                </a:solidFill>
                <a:latin typeface="Arial"/>
                <a:ea typeface="Arial"/>
                <a:cs typeface="Arial"/>
              </a:rPr>
              <a:t>Калькулятор ROUGE: </a:t>
            </a:r>
            <a:r>
              <a:rPr sz="1400" b="0" i="0">
                <a:solidFill>
                  <a:srgbClr val="1F5FAD"/>
                </a:solidFill>
                <a:latin typeface="Arial"/>
                <a:ea typeface="Arial"/>
                <a:cs typeface="Arial"/>
                <a:hlinkClick r:id="rId4"/>
              </a:rPr>
              <a:t>metricgate.com/calculator/rouge-score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Лабораторная работа: что сдать</a:t>
            </a:r>
            <a:endParaRPr lang="en-US" sz="2800" dirty="0"/>
          </a:p>
        </p:txBody>
      </p:sp>
      <p:pic>
        <p:nvPicPr>
          <p:cNvPr id="3" name="Picture 2" descr="image.png"/>
          <p:cNvPicPr>
            <a:picLocks noChangeAspect="1"/>
          </p:cNvPicPr>
          <p:nvPr/>
        </p:nvPicPr>
        <p:blipFill>
          <a:blip r:embed="rId3"/>
          <a:stretch>
            <a:fillRect/>
          </a:stretch>
        </p:blipFill>
        <p:spPr>
          <a:xfrm>
            <a:off x="812800" y="1145542"/>
            <a:ext cx="10566400" cy="19050"/>
          </a:xfrm>
          <a:prstGeom prst="rect">
            <a:avLst/>
          </a:prstGeom>
        </p:spPr>
      </p:pic>
      <p:sp>
        <p:nvSpPr>
          <p:cNvPr id="4" name="TextBox 3"/>
          <p:cNvSpPr txBox="1"/>
          <p:nvPr/>
        </p:nvSpPr>
        <p:spPr>
          <a:xfrm>
            <a:off x="10769600" y="6339842"/>
            <a:ext cx="812800" cy="238760"/>
          </a:xfrm>
          <a:prstGeom prst="rect">
            <a:avLst/>
          </a:prstGeom>
          <a:noFill/>
        </p:spPr>
        <p:txBody>
          <a:bodyPr wrap="square" lIns="0" tIns="0" rIns="0" bIns="0" anchor="t">
            <a:spAutoFit/>
          </a:bodyPr>
          <a:lstStyle/>
          <a:p>
            <a:pPr algn="r"/>
            <a:r>
              <a:rPr sz="1200" b="0" i="0">
                <a:solidFill>
                  <a:srgbClr val="555555"/>
                </a:solidFill>
                <a:latin typeface="Arial"/>
                <a:ea typeface="Arial"/>
                <a:cs typeface="Arial"/>
              </a:rPr>
              <a:t>19</a:t>
            </a:r>
          </a:p>
        </p:txBody>
      </p:sp>
      <p:sp>
        <p:nvSpPr>
          <p:cNvPr id="5" name="Rectangle 4"/>
          <p:cNvSpPr/>
          <p:nvPr/>
        </p:nvSpPr>
        <p:spPr>
          <a:xfrm>
            <a:off x="3687896" y="1412458"/>
            <a:ext cx="5133200" cy="4300000"/>
          </a:xfrm>
          <a:prstGeom prst="rect">
            <a:avLst/>
          </a:prstGeom>
          <a:solidFill>
            <a:srgbClr val="FAFAFA"/>
          </a:solidFill>
          <a:ln w="12700">
            <a:solidFill>
              <a:srgbClr val="C8C8C8"/>
            </a:solidFill>
          </a:ln>
          <a:effectLst/>
        </p:spPr>
        <p:style>
          <a:lnRef idx="1">
            <a:schemeClr val="accent1"/>
          </a:lnRef>
          <a:fillRef idx="3">
            <a:schemeClr val="accent1"/>
          </a:fillRef>
          <a:effectRef idx="2">
            <a:schemeClr val="accent1"/>
          </a:effectRef>
          <a:fontRef idx="minor">
            <a:schemeClr val="lt1"/>
          </a:fontRef>
        </p:style>
        <p:txBody>
          <a:bodyPr wrap="square" lIns="260000" tIns="240000" rIns="260000" bIns="240000" rtlCol="0" anchor="t"/>
          <a:lstStyle/>
          <a:p>
            <a:pPr algn="l">
              <a:lnSpc>
                <a:spcPts val="2600"/>
              </a:lnSpc>
              <a:spcAft>
                <a:spcPts val="1200"/>
              </a:spcAft>
            </a:pPr>
            <a:r>
              <a:rPr sz="2000" b="1" i="0" dirty="0" err="1">
                <a:solidFill>
                  <a:srgbClr val="1F3A68"/>
                </a:solidFill>
                <a:latin typeface="Arial"/>
                <a:ea typeface="Arial"/>
                <a:cs typeface="Arial"/>
              </a:rPr>
              <a:t>Отчёт</a:t>
            </a:r>
            <a:endParaRPr sz="2000" b="1" i="0" dirty="0">
              <a:solidFill>
                <a:srgbClr val="1F3A68"/>
              </a:solidFill>
              <a:latin typeface="Arial"/>
              <a:ea typeface="Arial"/>
              <a:cs typeface="Arial"/>
            </a:endParaRPr>
          </a:p>
          <a:p>
            <a:pPr algn="l">
              <a:lnSpc>
                <a:spcPts val="2600"/>
              </a:lnSpc>
              <a:spcAft>
                <a:spcPts val="1200"/>
              </a:spcAft>
            </a:pPr>
            <a:r>
              <a:rPr sz="1800" b="1" i="0" dirty="0">
                <a:solidFill>
                  <a:srgbClr val="1F3A68"/>
                </a:solidFill>
                <a:latin typeface="Arial"/>
                <a:ea typeface="Arial"/>
                <a:cs typeface="Arial"/>
              </a:rPr>
              <a:t>1.  </a:t>
            </a:r>
            <a:r>
              <a:rPr sz="1800" b="0" i="0" dirty="0" err="1">
                <a:solidFill>
                  <a:srgbClr val="1A1A1A"/>
                </a:solidFill>
                <a:latin typeface="Arial"/>
                <a:ea typeface="Arial"/>
                <a:cs typeface="Arial"/>
              </a:rPr>
              <a:t>Таблица</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результатов</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по</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шаблону</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со</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слайда</a:t>
            </a:r>
            <a:r>
              <a:rPr sz="1800" b="0" i="0" dirty="0">
                <a:solidFill>
                  <a:srgbClr val="1A1A1A"/>
                </a:solidFill>
                <a:latin typeface="Arial"/>
                <a:ea typeface="Arial"/>
                <a:cs typeface="Arial"/>
              </a:rPr>
              <a:t> 17</a:t>
            </a:r>
          </a:p>
          <a:p>
            <a:pPr algn="l">
              <a:lnSpc>
                <a:spcPts val="2600"/>
              </a:lnSpc>
              <a:spcAft>
                <a:spcPts val="1200"/>
              </a:spcAft>
            </a:pPr>
            <a:r>
              <a:rPr sz="1800" b="1" i="0" dirty="0">
                <a:solidFill>
                  <a:srgbClr val="1F3A68"/>
                </a:solidFill>
                <a:latin typeface="Arial"/>
                <a:ea typeface="Arial"/>
                <a:cs typeface="Arial"/>
              </a:rPr>
              <a:t>2.  </a:t>
            </a:r>
            <a:r>
              <a:rPr sz="1800" b="0" i="0" dirty="0" err="1">
                <a:solidFill>
                  <a:srgbClr val="1A1A1A"/>
                </a:solidFill>
                <a:latin typeface="Arial"/>
                <a:ea typeface="Arial"/>
                <a:cs typeface="Arial"/>
              </a:rPr>
              <a:t>Авторская</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аннотация</a:t>
            </a:r>
            <a:r>
              <a:rPr sz="1800" b="0" i="0" dirty="0">
                <a:solidFill>
                  <a:srgbClr val="1A1A1A"/>
                </a:solidFill>
                <a:latin typeface="Arial"/>
                <a:ea typeface="Arial"/>
                <a:cs typeface="Arial"/>
              </a:rPr>
              <a:t> и </a:t>
            </a:r>
            <a:r>
              <a:rPr sz="1800" b="0" i="0" dirty="0" err="1">
                <a:solidFill>
                  <a:srgbClr val="1A1A1A"/>
                </a:solidFill>
                <a:latin typeface="Arial"/>
                <a:ea typeface="Arial"/>
                <a:cs typeface="Arial"/>
              </a:rPr>
              <a:t>три</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сгенерированные</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выдуманные</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факты</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выделены</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красным</a:t>
            </a:r>
            <a:endParaRPr sz="1800" b="0" i="0" dirty="0">
              <a:solidFill>
                <a:srgbClr val="1A1A1A"/>
              </a:solidFill>
              <a:latin typeface="Arial"/>
              <a:ea typeface="Arial"/>
              <a:cs typeface="Arial"/>
            </a:endParaRPr>
          </a:p>
          <a:p>
            <a:pPr algn="l">
              <a:lnSpc>
                <a:spcPts val="2600"/>
              </a:lnSpc>
              <a:spcAft>
                <a:spcPts val="1200"/>
              </a:spcAft>
            </a:pPr>
            <a:r>
              <a:rPr sz="1800" b="1" i="0" dirty="0">
                <a:solidFill>
                  <a:srgbClr val="1F3A68"/>
                </a:solidFill>
                <a:latin typeface="Arial"/>
                <a:ea typeface="Arial"/>
                <a:cs typeface="Arial"/>
              </a:rPr>
              <a:t>3.  </a:t>
            </a:r>
            <a:r>
              <a:rPr lang="ru-RU" dirty="0">
                <a:solidFill>
                  <a:srgbClr val="1A1A1A"/>
                </a:solidFill>
                <a:latin typeface="Arial"/>
                <a:ea typeface="Arial"/>
                <a:cs typeface="Arial"/>
              </a:rPr>
              <a:t>Сравнение авторской и сгенерированной аннотации</a:t>
            </a:r>
            <a:endParaRPr sz="1800" b="0" i="0" dirty="0">
              <a:solidFill>
                <a:srgbClr val="1A1A1A"/>
              </a:solidFill>
              <a:latin typeface="Arial"/>
              <a:ea typeface="Arial"/>
              <a:cs typeface="Arial"/>
            </a:endParaRPr>
          </a:p>
          <a:p>
            <a:pPr algn="l">
              <a:lnSpc>
                <a:spcPts val="2600"/>
              </a:lnSpc>
              <a:spcAft>
                <a:spcPts val="1200"/>
              </a:spcAft>
            </a:pPr>
            <a:r>
              <a:rPr sz="1800" b="1" i="0" dirty="0">
                <a:solidFill>
                  <a:srgbClr val="1F3A68"/>
                </a:solidFill>
                <a:latin typeface="Arial"/>
                <a:ea typeface="Arial"/>
                <a:cs typeface="Arial"/>
              </a:rPr>
              <a:t>4.  </a:t>
            </a:r>
            <a:r>
              <a:rPr sz="1800" b="0" i="0" dirty="0" err="1">
                <a:solidFill>
                  <a:srgbClr val="1A1A1A"/>
                </a:solidFill>
                <a:latin typeface="Arial"/>
                <a:ea typeface="Arial"/>
                <a:cs typeface="Arial"/>
              </a:rPr>
              <a:t>Промпт</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если</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вы</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его</a:t>
            </a:r>
            <a:r>
              <a:rPr sz="1800" b="0" i="0" dirty="0">
                <a:solidFill>
                  <a:srgbClr val="1A1A1A"/>
                </a:solidFill>
                <a:latin typeface="Arial"/>
                <a:ea typeface="Arial"/>
                <a:cs typeface="Arial"/>
              </a:rPr>
              <a:t> </a:t>
            </a:r>
            <a:r>
              <a:rPr sz="1800" b="0" i="0" dirty="0" err="1">
                <a:solidFill>
                  <a:srgbClr val="1A1A1A"/>
                </a:solidFill>
                <a:latin typeface="Arial"/>
                <a:ea typeface="Arial"/>
                <a:cs typeface="Arial"/>
              </a:rPr>
              <a:t>меняли</a:t>
            </a:r>
            <a:endParaRPr sz="1800" b="0" i="0" dirty="0">
              <a:solidFill>
                <a:srgbClr val="1A1A1A"/>
              </a:solidFill>
              <a:latin typeface="Arial"/>
              <a:ea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Список источников</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sp>
        <p:nvSpPr>
          <p:cNvPr id="4" name="Shape 1"/>
          <p:cNvSpPr/>
          <p:nvPr/>
        </p:nvSpPr>
        <p:spPr>
          <a:xfrm>
            <a:off x="812800" y="1370967"/>
            <a:ext cx="10566400" cy="0"/>
          </a:xfrm>
          <a:prstGeom prst="line">
            <a:avLst/>
          </a:prstGeom>
          <a:noFill/>
          <a:ln w="6350">
            <a:solidFill>
              <a:srgbClr val="C8C8C8"/>
            </a:solidFill>
            <a:prstDash val="solid"/>
          </a:ln>
        </p:spPr>
      </p:sp>
      <p:sp>
        <p:nvSpPr>
          <p:cNvPr id="5" name="Text 2"/>
          <p:cNvSpPr/>
          <p:nvPr/>
        </p:nvSpPr>
        <p:spPr>
          <a:xfrm>
            <a:off x="812800" y="1449071"/>
            <a:ext cx="304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68"/>
                </a:solidFill>
                <a:latin typeface="Arial" pitchFamily="34" charset="0"/>
                <a:ea typeface="Arial" pitchFamily="34" charset="-122"/>
                <a:cs typeface="Arial" pitchFamily="34" charset="-120"/>
              </a:rPr>
              <a:t>1</a:t>
            </a:r>
            <a:endParaRPr lang="en-US" sz="1500" dirty="0"/>
          </a:p>
        </p:txBody>
      </p:sp>
      <p:sp>
        <p:nvSpPr>
          <p:cNvPr id="6" name="Text 3"/>
          <p:cNvSpPr/>
          <p:nvPr/>
        </p:nvSpPr>
        <p:spPr>
          <a:xfrm>
            <a:off x="1244600" y="1469392"/>
            <a:ext cx="1043863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A1A1A"/>
                </a:solidFill>
                <a:latin typeface="Arial" pitchFamily="34" charset="0"/>
                <a:ea typeface="Arial" pitchFamily="34" charset="-122"/>
                <a:cs typeface="Arial" pitchFamily="34" charset="-120"/>
              </a:rPr>
              <a:t>От текста к краткому изложению: библиотека Sumy</a:t>
            </a:r>
            <a:endParaRPr lang="en-US" sz="1400" dirty="0"/>
          </a:p>
        </p:txBody>
      </p:sp>
      <p:sp>
        <p:nvSpPr>
          <p:cNvPr id="7" name="Text 4"/>
          <p:cNvSpPr/>
          <p:nvPr/>
        </p:nvSpPr>
        <p:spPr>
          <a:xfrm>
            <a:off x="1244600" y="1738629"/>
            <a:ext cx="1043863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Хабр, блог OTUS, 2024 · TextRank и LexRank на Python, есть русский язык</a:t>
            </a:r>
            <a:endParaRPr lang="en-US" sz="1200" dirty="0"/>
          </a:p>
          <a:p>
            <a:pPr marL="0" indent="0" algn="l">
              <a:lnSpc>
                <a:spcPts val="1680"/>
              </a:lnSpc>
              <a:buNone/>
            </a:pPr>
            <a:r>
              <a:rPr lang="en-US" sz="1200" u="sng" dirty="0">
                <a:solidFill>
                  <a:srgbClr val="1F3A68"/>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habr.com/ru/companies/otus/articles/832940/</a:t>
            </a:r>
            <a:endParaRPr lang="en-US" sz="1200" dirty="0"/>
          </a:p>
        </p:txBody>
      </p:sp>
      <p:sp>
        <p:nvSpPr>
          <p:cNvPr id="8" name="Shape 5"/>
          <p:cNvSpPr/>
          <p:nvPr/>
        </p:nvSpPr>
        <p:spPr>
          <a:xfrm>
            <a:off x="812800" y="2244725"/>
            <a:ext cx="10566400" cy="0"/>
          </a:xfrm>
          <a:prstGeom prst="line">
            <a:avLst/>
          </a:prstGeom>
          <a:noFill/>
          <a:ln w="6350">
            <a:solidFill>
              <a:srgbClr val="C8C8C8"/>
            </a:solidFill>
            <a:prstDash val="solid"/>
          </a:ln>
        </p:spPr>
      </p:sp>
      <p:sp>
        <p:nvSpPr>
          <p:cNvPr id="9" name="Text 6"/>
          <p:cNvSpPr/>
          <p:nvPr/>
        </p:nvSpPr>
        <p:spPr>
          <a:xfrm>
            <a:off x="812800" y="2322829"/>
            <a:ext cx="304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68"/>
                </a:solidFill>
                <a:latin typeface="Arial" pitchFamily="34" charset="0"/>
                <a:ea typeface="Arial" pitchFamily="34" charset="-122"/>
                <a:cs typeface="Arial" pitchFamily="34" charset="-120"/>
              </a:rPr>
              <a:t>2</a:t>
            </a:r>
            <a:endParaRPr lang="en-US" sz="1500" dirty="0"/>
          </a:p>
        </p:txBody>
      </p:sp>
      <p:sp>
        <p:nvSpPr>
          <p:cNvPr id="10" name="Text 7"/>
          <p:cNvSpPr/>
          <p:nvPr/>
        </p:nvSpPr>
        <p:spPr>
          <a:xfrm>
            <a:off x="1244600" y="2343150"/>
            <a:ext cx="1043863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A1A1A"/>
                </a:solidFill>
                <a:latin typeface="Arial" pitchFamily="34" charset="0"/>
                <a:ea typeface="Arial" pitchFamily="34" charset="-122"/>
                <a:cs typeface="Arial" pitchFamily="34" charset="-120"/>
              </a:rPr>
              <a:t>Практические применения генеративных моделей: как мы делали суммаризатор текстов</a:t>
            </a:r>
            <a:endParaRPr lang="en-US" sz="1400" dirty="0"/>
          </a:p>
        </p:txBody>
      </p:sp>
      <p:sp>
        <p:nvSpPr>
          <p:cNvPr id="11" name="Text 8"/>
          <p:cNvSpPr/>
          <p:nvPr/>
        </p:nvSpPr>
        <p:spPr>
          <a:xfrm>
            <a:off x="1244600" y="2612392"/>
            <a:ext cx="1043863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Хабр, блог SberDevices, 2022 · абстрактивная суммаризация на ruT5, оценка по ROUGE и BERTScore</a:t>
            </a:r>
            <a:endParaRPr lang="en-US" sz="1200" dirty="0"/>
          </a:p>
          <a:p>
            <a:pPr marL="0" indent="0" algn="l">
              <a:lnSpc>
                <a:spcPts val="1680"/>
              </a:lnSpc>
              <a:buNone/>
            </a:pPr>
            <a:r>
              <a:rPr lang="en-US" sz="1200" u="sng" dirty="0">
                <a:solidFill>
                  <a:srgbClr val="1F3A68"/>
                </a:solidFill>
                <a:latin typeface="Arial" pitchFamily="34" charset="0"/>
                <a:ea typeface="Arial" pitchFamily="34" charset="-122"/>
                <a:cs typeface="Arial" pitchFamily="34" charset="-120"/>
                <a:hlinkClick r:id="rId5">
                  <a:extLst>
                    <a:ext uri="{A12FA001-AC4F-418D-AE19-62706E023703}">
                      <ahyp:hlinkClr xmlns:ahyp="http://schemas.microsoft.com/office/drawing/2018/hyperlinkcolor" val="tx"/>
                    </a:ext>
                  </a:extLst>
                </a:hlinkClick>
              </a:rPr>
              <a:t>habr.com/ru/companies/sberdevices/articles/666420/</a:t>
            </a:r>
            <a:endParaRPr lang="en-US" sz="1200" dirty="0"/>
          </a:p>
        </p:txBody>
      </p:sp>
      <p:sp>
        <p:nvSpPr>
          <p:cNvPr id="12" name="Shape 9"/>
          <p:cNvSpPr/>
          <p:nvPr/>
        </p:nvSpPr>
        <p:spPr>
          <a:xfrm>
            <a:off x="812800" y="3118489"/>
            <a:ext cx="10566400" cy="0"/>
          </a:xfrm>
          <a:prstGeom prst="line">
            <a:avLst/>
          </a:prstGeom>
          <a:noFill/>
          <a:ln w="6350">
            <a:solidFill>
              <a:srgbClr val="C8C8C8"/>
            </a:solidFill>
            <a:prstDash val="solid"/>
          </a:ln>
        </p:spPr>
      </p:sp>
      <p:sp>
        <p:nvSpPr>
          <p:cNvPr id="13" name="Text 10"/>
          <p:cNvSpPr/>
          <p:nvPr/>
        </p:nvSpPr>
        <p:spPr>
          <a:xfrm>
            <a:off x="812800" y="3196592"/>
            <a:ext cx="304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68"/>
                </a:solidFill>
                <a:latin typeface="Arial" pitchFamily="34" charset="0"/>
                <a:ea typeface="Arial" pitchFamily="34" charset="-122"/>
                <a:cs typeface="Arial" pitchFamily="34" charset="-120"/>
              </a:rPr>
              <a:t>3</a:t>
            </a:r>
            <a:endParaRPr lang="en-US" sz="1500" dirty="0"/>
          </a:p>
        </p:txBody>
      </p:sp>
      <p:sp>
        <p:nvSpPr>
          <p:cNvPr id="14" name="Text 11"/>
          <p:cNvSpPr/>
          <p:nvPr/>
        </p:nvSpPr>
        <p:spPr>
          <a:xfrm>
            <a:off x="1244600" y="3216914"/>
            <a:ext cx="1043863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A1A1A"/>
                </a:solidFill>
                <a:latin typeface="Arial" pitchFamily="34" charset="0"/>
                <a:ea typeface="Arial" pitchFamily="34" charset="-122"/>
                <a:cs typeface="Arial" pitchFamily="34" charset="-120"/>
              </a:rPr>
              <a:t>Руководство Google по промпт-инжинирингу. Заключительная часть: лучшие практики и рекомендации</a:t>
            </a:r>
            <a:endParaRPr lang="en-US" sz="1400" dirty="0"/>
          </a:p>
        </p:txBody>
      </p:sp>
      <p:sp>
        <p:nvSpPr>
          <p:cNvPr id="15" name="Text 12"/>
          <p:cNvSpPr/>
          <p:nvPr/>
        </p:nvSpPr>
        <p:spPr>
          <a:xfrm>
            <a:off x="1244600" y="3486150"/>
            <a:ext cx="1043863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Хабр, 2025 · как составлять промпты, few-shot примеры</a:t>
            </a:r>
            <a:endParaRPr lang="en-US" sz="1200" dirty="0"/>
          </a:p>
          <a:p>
            <a:pPr marL="0" indent="0" algn="l">
              <a:lnSpc>
                <a:spcPts val="1680"/>
              </a:lnSpc>
              <a:buNone/>
            </a:pPr>
            <a:r>
              <a:rPr lang="en-US" sz="1200" u="sng" dirty="0">
                <a:solidFill>
                  <a:srgbClr val="1F3A68"/>
                </a:solidFill>
                <a:latin typeface="Arial" pitchFamily="34" charset="0"/>
                <a:ea typeface="Arial" pitchFamily="34" charset="-122"/>
                <a:cs typeface="Arial" pitchFamily="34" charset="-120"/>
                <a:hlinkClick r:id="rId6">
                  <a:extLst>
                    <a:ext uri="{A12FA001-AC4F-418D-AE19-62706E023703}">
                      <ahyp:hlinkClr xmlns:ahyp="http://schemas.microsoft.com/office/drawing/2018/hyperlinkcolor" val="tx"/>
                    </a:ext>
                  </a:extLst>
                </a:hlinkClick>
              </a:rPr>
              <a:t>habr.com/ru/articles/902330/</a:t>
            </a:r>
            <a:endParaRPr lang="en-US" sz="1200" dirty="0"/>
          </a:p>
        </p:txBody>
      </p:sp>
      <p:sp>
        <p:nvSpPr>
          <p:cNvPr id="16" name="Shape 13"/>
          <p:cNvSpPr/>
          <p:nvPr/>
        </p:nvSpPr>
        <p:spPr>
          <a:xfrm>
            <a:off x="812800" y="3992246"/>
            <a:ext cx="10566400" cy="0"/>
          </a:xfrm>
          <a:prstGeom prst="line">
            <a:avLst/>
          </a:prstGeom>
          <a:noFill/>
          <a:ln w="6350">
            <a:solidFill>
              <a:srgbClr val="C8C8C8"/>
            </a:solidFill>
            <a:prstDash val="solid"/>
          </a:ln>
        </p:spPr>
      </p:sp>
      <p:sp>
        <p:nvSpPr>
          <p:cNvPr id="17" name="Text 14"/>
          <p:cNvSpPr/>
          <p:nvPr/>
        </p:nvSpPr>
        <p:spPr>
          <a:xfrm>
            <a:off x="812800" y="4070350"/>
            <a:ext cx="304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68"/>
                </a:solidFill>
                <a:latin typeface="Arial" pitchFamily="34" charset="0"/>
                <a:ea typeface="Arial" pitchFamily="34" charset="-122"/>
                <a:cs typeface="Arial" pitchFamily="34" charset="-120"/>
              </a:rPr>
              <a:t>4</a:t>
            </a:r>
            <a:endParaRPr lang="en-US" sz="1500" dirty="0"/>
          </a:p>
        </p:txBody>
      </p:sp>
      <p:sp>
        <p:nvSpPr>
          <p:cNvPr id="18" name="Text 15"/>
          <p:cNvSpPr/>
          <p:nvPr/>
        </p:nvSpPr>
        <p:spPr>
          <a:xfrm>
            <a:off x="1244600" y="4090671"/>
            <a:ext cx="1043863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A1A1A"/>
                </a:solidFill>
                <a:latin typeface="Arial" pitchFamily="34" charset="0"/>
                <a:ea typeface="Arial" pitchFamily="34" charset="-122"/>
                <a:cs typeface="Arial" pitchFamily="34" charset="-120"/>
              </a:rPr>
              <a:t>Как эффективно бороться с галлюцинациями нейросетей</a:t>
            </a:r>
            <a:endParaRPr lang="en-US" sz="1400" dirty="0"/>
          </a:p>
        </p:txBody>
      </p:sp>
      <p:sp>
        <p:nvSpPr>
          <p:cNvPr id="19" name="Text 16"/>
          <p:cNvSpPr/>
          <p:nvPr/>
        </p:nvSpPr>
        <p:spPr>
          <a:xfrm>
            <a:off x="1244600" y="4359914"/>
            <a:ext cx="1043863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Хабр, блог Beeline Cloud, 2025 · почему модели выдумывают факты и как это проверять</a:t>
            </a:r>
            <a:endParaRPr lang="en-US" sz="1200" dirty="0"/>
          </a:p>
          <a:p>
            <a:pPr marL="0" indent="0" algn="l">
              <a:lnSpc>
                <a:spcPts val="1680"/>
              </a:lnSpc>
              <a:buNone/>
            </a:pPr>
            <a:r>
              <a:rPr lang="en-US" sz="1200" u="sng" dirty="0">
                <a:solidFill>
                  <a:srgbClr val="1F3A68"/>
                </a:solidFill>
                <a:latin typeface="Arial" pitchFamily="34" charset="0"/>
                <a:ea typeface="Arial" pitchFamily="34" charset="-122"/>
                <a:cs typeface="Arial" pitchFamily="34" charset="-120"/>
                <a:hlinkClick r:id="rId7">
                  <a:extLst>
                    <a:ext uri="{A12FA001-AC4F-418D-AE19-62706E023703}">
                      <ahyp:hlinkClr xmlns:ahyp="http://schemas.microsoft.com/office/drawing/2018/hyperlinkcolor" val="tx"/>
                    </a:ext>
                  </a:extLst>
                </a:hlinkClick>
              </a:rPr>
              <a:t>habr.com/ru/companies/beeline_cloud/articles/886706/</a:t>
            </a:r>
            <a:endParaRPr lang="en-US" sz="1200" dirty="0"/>
          </a:p>
        </p:txBody>
      </p:sp>
      <p:sp>
        <p:nvSpPr>
          <p:cNvPr id="20" name="Shape 17"/>
          <p:cNvSpPr/>
          <p:nvPr/>
        </p:nvSpPr>
        <p:spPr>
          <a:xfrm>
            <a:off x="812800" y="4866004"/>
            <a:ext cx="10566400" cy="0"/>
          </a:xfrm>
          <a:prstGeom prst="line">
            <a:avLst/>
          </a:prstGeom>
          <a:noFill/>
          <a:ln w="6350">
            <a:solidFill>
              <a:srgbClr val="C8C8C8"/>
            </a:solidFill>
            <a:prstDash val="solid"/>
          </a:ln>
        </p:spPr>
      </p:sp>
      <p:sp>
        <p:nvSpPr>
          <p:cNvPr id="21" name="Text 18"/>
          <p:cNvSpPr/>
          <p:nvPr/>
        </p:nvSpPr>
        <p:spPr>
          <a:xfrm>
            <a:off x="812800" y="4944114"/>
            <a:ext cx="304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3A68"/>
                </a:solidFill>
                <a:latin typeface="Arial" pitchFamily="34" charset="0"/>
                <a:ea typeface="Arial" pitchFamily="34" charset="-122"/>
                <a:cs typeface="Arial" pitchFamily="34" charset="-120"/>
              </a:rPr>
              <a:t>5</a:t>
            </a:r>
            <a:endParaRPr lang="en-US" sz="1500" dirty="0"/>
          </a:p>
        </p:txBody>
      </p:sp>
      <p:sp>
        <p:nvSpPr>
          <p:cNvPr id="22" name="Text 19"/>
          <p:cNvSpPr/>
          <p:nvPr/>
        </p:nvSpPr>
        <p:spPr>
          <a:xfrm>
            <a:off x="1244600" y="4964429"/>
            <a:ext cx="10438638" cy="256540"/>
          </a:xfrm>
          <a:prstGeom prst="rect">
            <a:avLst/>
          </a:prstGeom>
          <a:noFill/>
          <a:ln/>
        </p:spPr>
        <p:txBody>
          <a:bodyPr wrap="square" lIns="0" tIns="0" rIns="0" bIns="0" rtlCol="0" anchor="t">
            <a:normAutofit/>
          </a:bodyPr>
          <a:lstStyle/>
          <a:p>
            <a:pPr marL="0" indent="0" algn="l">
              <a:lnSpc>
                <a:spcPts val="1820"/>
              </a:lnSpc>
              <a:buNone/>
            </a:pPr>
            <a:r>
              <a:rPr lang="en-US" sz="1400" b="1" dirty="0">
                <a:solidFill>
                  <a:srgbClr val="1A1A1A"/>
                </a:solidFill>
                <a:latin typeface="Arial" pitchFamily="34" charset="0"/>
                <a:ea typeface="Arial" pitchFamily="34" charset="-122"/>
                <a:cs typeface="Arial" pitchFamily="34" charset="-120"/>
              </a:rPr>
              <a:t>ГОСТ Р 7.0.99-2018. Реферат и аннотация. Общие требования</a:t>
            </a:r>
            <a:endParaRPr lang="en-US" sz="1400" dirty="0"/>
          </a:p>
        </p:txBody>
      </p:sp>
      <p:sp>
        <p:nvSpPr>
          <p:cNvPr id="23" name="Text 20"/>
          <p:cNvSpPr/>
          <p:nvPr/>
        </p:nvSpPr>
        <p:spPr>
          <a:xfrm>
            <a:off x="1244600" y="5233671"/>
            <a:ext cx="1043863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5555"/>
                </a:solidFill>
                <a:latin typeface="Arial" pitchFamily="34" charset="0"/>
                <a:ea typeface="Arial" pitchFamily="34" charset="-122"/>
                <a:cs typeface="Arial" pitchFamily="34" charset="-120"/>
              </a:rPr>
              <a:t>чем аннотация отличается от реферата</a:t>
            </a:r>
            <a:endParaRPr lang="en-US" sz="1200" dirty="0"/>
          </a:p>
        </p:txBody>
      </p:sp>
      <p:sp>
        <p:nvSpPr>
          <p:cNvPr id="24" name="Text 21"/>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609600"/>
            <a:ext cx="10883392" cy="43434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F3A68"/>
                </a:solidFill>
                <a:latin typeface="Arial" pitchFamily="34" charset="0"/>
                <a:ea typeface="Arial" pitchFamily="34" charset="-122"/>
                <a:cs typeface="Arial" pitchFamily="34" charset="-120"/>
              </a:rPr>
              <a:t>Выводы</a:t>
            </a:r>
            <a:endParaRPr lang="en-US" sz="2800" dirty="0"/>
          </a:p>
        </p:txBody>
      </p:sp>
      <p:pic>
        <p:nvPicPr>
          <p:cNvPr id="3" name="Image 0" descr="line"/>
          <p:cNvPicPr>
            <a:picLocks noChangeAspect="1"/>
          </p:cNvPicPr>
          <p:nvPr/>
        </p:nvPicPr>
        <p:blipFill>
          <a:blip r:embed="rId3"/>
          <a:srcRect/>
          <a:stretch/>
        </p:blipFill>
        <p:spPr>
          <a:xfrm>
            <a:off x="812800" y="1145542"/>
            <a:ext cx="10566400" cy="19050"/>
          </a:xfrm>
          <a:prstGeom prst="rect">
            <a:avLst/>
          </a:prstGeom>
        </p:spPr>
      </p:pic>
      <p:sp>
        <p:nvSpPr>
          <p:cNvPr id="4" name="Text 1"/>
          <p:cNvSpPr/>
          <p:nvPr/>
        </p:nvSpPr>
        <p:spPr>
          <a:xfrm>
            <a:off x="868934" y="1443992"/>
            <a:ext cx="10819638" cy="1955600"/>
          </a:xfrm>
          <a:prstGeom prst="rect">
            <a:avLst/>
          </a:prstGeom>
          <a:noFill/>
          <a:ln/>
        </p:spPr>
        <p:txBody>
          <a:bodyPr wrap="square" lIns="0" tIns="0" rIns="0" bIns="0" rtlCol="0" anchor="t">
            <a:normAutofit/>
          </a:bodyPr>
          <a:lstStyle/>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Журнальная аннотация по сути реферат: цель, методы, результаты, выводы</a:t>
            </a:r>
            <a:endParaRPr lang="en-US" sz="1800" dirty="0"/>
          </a:p>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Экстрактивные методы не искажают факты, но дают несвязный текст</a:t>
            </a:r>
            <a:endParaRPr lang="en-US" sz="1800" dirty="0"/>
          </a:p>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LLM пишут связно, но могут ошибаться в фактах</a:t>
            </a:r>
            <a:endParaRPr lang="en-US" sz="1800" dirty="0"/>
          </a:p>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Структурированный промпт с примерами заметно улучшает результат</a:t>
            </a:r>
            <a:endParaRPr lang="en-US" sz="1800" dirty="0"/>
          </a:p>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Метрики не ловят выдуманные цифры: нужна ручная проверка</a:t>
            </a:r>
            <a:endParaRPr lang="en-US" sz="1800" dirty="0"/>
          </a:p>
          <a:p>
            <a:pPr marL="197866" indent="-197866" algn="l">
              <a:lnSpc>
                <a:spcPts val="2520"/>
              </a:lnSpc>
              <a:buSzPct val="100000"/>
              <a:buChar char="•"/>
            </a:pPr>
            <a:r>
              <a:rPr lang="en-US" sz="1800" dirty="0">
                <a:solidFill>
                  <a:srgbClr val="1A1A1A"/>
                </a:solidFill>
                <a:latin typeface="Arial" pitchFamily="34" charset="0"/>
                <a:ea typeface="Arial" pitchFamily="34" charset="-122"/>
                <a:cs typeface="Arial" pitchFamily="34" charset="-120"/>
              </a:rPr>
              <a:t>Эксперимент: модели не выдумали фактов, но расставили акценты иначе, чем автор</a:t>
            </a:r>
            <a:endParaRPr lang="en-US" sz="1800" dirty="0"/>
          </a:p>
        </p:txBody>
      </p:sp>
      <p:sp>
        <p:nvSpPr>
          <p:cNvPr id="5" name="Text 2"/>
          <p:cNvSpPr/>
          <p:nvPr/>
        </p:nvSpPr>
        <p:spPr>
          <a:xfrm>
            <a:off x="654304" y="3723592"/>
            <a:ext cx="10883392" cy="416560"/>
          </a:xfrm>
          <a:prstGeom prst="rect">
            <a:avLst/>
          </a:prstGeom>
          <a:noFill/>
          <a:ln/>
        </p:spPr>
        <p:txBody>
          <a:bodyPr wrap="square" lIns="0" tIns="0" rIns="0" bIns="0" rtlCol="0" anchor="t">
            <a:normAutofit/>
          </a:bodyPr>
          <a:lstStyle/>
          <a:p>
            <a:pPr marL="0" indent="0" algn="ctr">
              <a:lnSpc>
                <a:spcPts val="3080"/>
              </a:lnSpc>
              <a:buNone/>
            </a:pPr>
            <a:r>
              <a:rPr lang="en-US" sz="2200" b="1" dirty="0">
                <a:solidFill>
                  <a:srgbClr val="1F3A68"/>
                </a:solidFill>
                <a:latin typeface="Arial" pitchFamily="34" charset="0"/>
                <a:ea typeface="Arial" pitchFamily="34" charset="-122"/>
                <a:cs typeface="Arial" pitchFamily="34" charset="-120"/>
              </a:rPr>
              <a:t>Спасибо за внимание!</a:t>
            </a:r>
            <a:endParaRPr lang="en-US" sz="2200" dirty="0"/>
          </a:p>
        </p:txBody>
      </p:sp>
      <p:sp>
        <p:nvSpPr>
          <p:cNvPr id="6" name="Text 3"/>
          <p:cNvSpPr/>
          <p:nvPr/>
        </p:nvSpPr>
        <p:spPr>
          <a:xfrm>
            <a:off x="10769600" y="63398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5555"/>
                </a:solidFill>
                <a:latin typeface="Arial" pitchFamily="34" charset="0"/>
                <a:ea typeface="Arial" pitchFamily="34" charset="-122"/>
                <a:cs typeface="Arial" pitchFamily="34" charset="-120"/>
              </a:rPr>
              <a:t>21</a:t>
            </a:r>
            <a:endParaRPr lang="en-US" sz="1200" dirty="0"/>
          </a:p>
        </p:txBody>
      </p:sp>
    </p:spTree>
  </p:cSld>
  <p:clrMapOvr>
    <a:masterClrMapping/>
  </p:clrMapOvr>
</p:sld>
</file>

<file path=ppt/theme/theme1.xml><?xml version="1.0" encoding="utf-8"?>
<a:theme xmlns:a="http://schemas.openxmlformats.org/drawingml/2006/main" name="Генерация аннотаций по тексту">
  <a:themeElements>
    <a:clrScheme name="Генерация аннотаций по тексту">
      <a:dk1>
        <a:srgbClr val="1A1A1A"/>
      </a:dk1>
      <a:lt1>
        <a:srgbClr val="FFFFFF"/>
      </a:lt1>
      <a:dk2>
        <a:srgbClr val="535353"/>
      </a:dk2>
      <a:lt2>
        <a:srgbClr val="E8E8E8"/>
      </a:lt2>
      <a:accent1>
        <a:srgbClr val="1F3A68"/>
      </a:accent1>
      <a:accent2>
        <a:srgbClr val="1F5FAD"/>
      </a:accent2>
      <a:accent3>
        <a:srgbClr val="C2571A"/>
      </a:accent3>
      <a:accent4>
        <a:srgbClr val="2E7D32"/>
      </a:accent4>
      <a:accent5>
        <a:srgbClr val="7B3FA0"/>
      </a:accent5>
      <a:accent6>
        <a:srgbClr val="555555"/>
      </a:accent6>
      <a:hlink>
        <a:srgbClr val="0563C1"/>
      </a:hlink>
      <a:folHlink>
        <a:srgbClr val="954F72"/>
      </a:folHlink>
    </a:clrScheme>
    <a:fontScheme name="Генерация аннотаций по тексту">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10008</TotalTime>
  <Words>3862</Words>
  <Application>Microsoft Office PowerPoint</Application>
  <PresentationFormat>Widescreen</PresentationFormat>
  <Paragraphs>387</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Генерация аннотаций по тексту</vt:lpstr>
      <vt:lpstr>Генерация аннотаций по тексту</vt:lpstr>
      <vt:lpstr>Аннотация и реферат</vt:lpstr>
      <vt:lpstr>Структура аннотации</vt:lpstr>
      <vt:lpstr>Подходы к автоматической генерации</vt:lpstr>
      <vt:lpstr>Экстрактивные методы: выбрать главные предложения</vt:lpstr>
      <vt:lpstr>Пример: как выбираются предложения</vt:lpstr>
      <vt:lpstr>Абстрактивные методы: написать текст заново</vt:lpstr>
      <vt:lpstr>Сравнение подходов</vt:lpstr>
      <vt:lpstr>Генерация аннотаций с помощью LLM</vt:lpstr>
      <vt:lpstr>Длинные тексты: схема map-reduce</vt:lpstr>
      <vt:lpstr>Типичные ошибки моделей</vt:lpstr>
      <vt:lpstr>Оценка качества</vt:lpstr>
      <vt:lpstr>Эксперимент: три модели на одной статье</vt:lpstr>
      <vt:lpstr>Промпт для эксперимента</vt:lpstr>
      <vt:lpstr>Как сравниваем: метрики</vt:lpstr>
      <vt:lpstr>Что написали модели</vt:lpstr>
      <vt:lpstr>Результаты эксперимента</vt:lpstr>
      <vt:lpstr>Лабораторная работа: задание</vt:lpstr>
      <vt:lpstr>Лабораторная работа: что сдать</vt:lpstr>
      <vt:lpstr>Список источников</vt:lpstr>
      <vt:lpstr>Выводы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Генерация аннотаций по тексту</dc:title>
  <dc:subject/>
  <dc:creator/>
  <cp:lastModifiedBy>Олег Скрипкин</cp:lastModifiedBy>
  <cp:revision>12</cp:revision>
  <dcterms:created xsi:type="dcterms:W3CDTF">2026-10-08T11:31:52Z</dcterms:created>
  <dcterms:modified xsi:type="dcterms:W3CDTF">2026-10-23T12:42:55Z</dcterms:modified>
</cp:coreProperties>
</file>